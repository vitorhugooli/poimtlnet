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Inter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Inter-italic.fntdata"/><Relationship Id="rId10" Type="http://schemas.openxmlformats.org/officeDocument/2006/relationships/slide" Target="slides/slide5.xml"/><Relationship Id="rId32" Type="http://schemas.openxmlformats.org/officeDocument/2006/relationships/font" Target="fonts/Inter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Inter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>
                <a:solidFill>
                  <a:schemeClr val="dk1"/>
                </a:solidFill>
              </a:rPr>
              <a:t>Encoder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</a:rPr>
              <a:t>Linear(feature_size → 256) → ReLU → LayerNorm → Dropout(0.1) →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</a:rPr>
              <a:t>(num_encoder_layers−1) × [Linear(256→256) → ReLU → LayerNorm → Dropout(0.1)]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</a:rPr>
              <a:t>→ Linear(256 → shared_layer_size) → ReLU → LayerNorm.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>
                <a:solidFill>
                  <a:schemeClr val="dk1"/>
                </a:solidFill>
              </a:rPr>
              <a:t>Shared stack</a:t>
            </a:r>
            <a:r>
              <a:rPr lang="en-GB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</a:rPr>
              <a:t>[B, (seq_len,) shared_size] from task encoder → FiLMLayer  (gamma·x + beta from task_embedding(2, shared_size)) → Linear→LeakyReLU→LayerNorm→Dropout → (num_shared_layers−1) ×  ResidualBlock (each: LayerNorm→Linear→LeakyReLU→Dropout +residual, ×2 sublayers) → output [B, (seq_len,) shared_size]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/>
              <a:t>CategoryHeadMTL</a:t>
            </a:r>
            <a:br>
              <a:rPr lang="en-GB"/>
            </a:br>
            <a:r>
              <a:rPr lang="en-GB"/>
              <a:t>[B, 1, shared_size] → squeeze → 3 parallel MLP paths (depths 2/3/4 of Linear→LayerNorm→GELU→Dropout, hidden=128) → concat [B, 3·128] → combiner Linear→LayerNorm→GELU→Dropout→Linear → [B, 7].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>
                <a:solidFill>
                  <a:schemeClr val="dk1"/>
                </a:solidFill>
              </a:rPr>
              <a:t>Next-POI head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</a:rPr>
              <a:t>[B, seq_len=9, shared_size] → PositionalEncoding → TransformerEncoder (num_layers × TransformerEncoderLayer(d_model=shared_size, nhead=num_heads, dim_feedforward=4·shared_size, norm_first=True) with causal + padding mask) → LayerNorm → attention pooling (Linear(shared_size,1) → masked softmax → weighted sum) →  Linear(shared_size, 7) → [B, 7]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p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7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p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2" name="Google Shape;312;p1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2" name="Google Shape;332;p1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1" name="Google Shape;351;p1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7" name="Google Shape;377;p1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1" name="Google Shape;541;p1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8" name="Google Shape;678;p1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7" name="Google Shape;697;p1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3" name="Google Shape;713;p1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8" name="Google Shape;728;p1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0" name="Google Shape;740;p1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2" name="Google Shape;752;p2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6" name="Google Shape;766;p2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4" name="Google Shape;794;p2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6" name="Google Shape;816;p2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1" name="Google Shape;841;p2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3" name="Google Shape;853;p2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381000" cy="5143372"/>
          </a:xfrm>
          <a:prstGeom prst="rect">
            <a:avLst/>
          </a:prstGeom>
          <a:solidFill>
            <a:srgbClr val="16A08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" name="Google Shape;85;p13"/>
          <p:cNvGrpSpPr/>
          <p:nvPr/>
        </p:nvGrpSpPr>
        <p:grpSpPr>
          <a:xfrm>
            <a:off x="666739" y="1291067"/>
            <a:ext cx="7715400" cy="1322793"/>
            <a:chOff x="666814" y="1869292"/>
            <a:chExt cx="7715400" cy="1322793"/>
          </a:xfrm>
        </p:grpSpPr>
        <p:sp>
          <p:nvSpPr>
            <p:cNvPr id="86" name="Google Shape;86;p13"/>
            <p:cNvSpPr txBox="1"/>
            <p:nvPr/>
          </p:nvSpPr>
          <p:spPr>
            <a:xfrm>
              <a:off x="666814" y="1869292"/>
              <a:ext cx="77154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b="1" i="0" lang="en-GB" sz="4800" u="none" cap="none" strike="noStrike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ST-</a:t>
              </a:r>
              <a:r>
                <a:rPr b="1" i="0" lang="en-GB" sz="4800" u="none" cap="none" strike="noStrike">
                  <a:solidFill>
                    <a:srgbClr val="16A086"/>
                  </a:solidFill>
                  <a:latin typeface="Inter"/>
                  <a:ea typeface="Inter"/>
                  <a:cs typeface="Inter"/>
                  <a:sym typeface="Inter"/>
                </a:rPr>
                <a:t>MTLNet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3"/>
            <p:cNvSpPr txBox="1"/>
            <p:nvPr/>
          </p:nvSpPr>
          <p:spPr>
            <a:xfrm>
              <a:off x="666814" y="2655085"/>
              <a:ext cx="7143900" cy="5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GB" sz="1600" u="none" cap="none" strike="noStrike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Representações Espaço-Temporais de Pontos de Interesse para Aprendizado Multitarefa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" name="Google Shape;88;p13"/>
          <p:cNvSpPr/>
          <p:nvPr/>
        </p:nvSpPr>
        <p:spPr>
          <a:xfrm>
            <a:off x="658117" y="3273708"/>
            <a:ext cx="7810500" cy="9600"/>
          </a:xfrm>
          <a:prstGeom prst="rect">
            <a:avLst/>
          </a:prstGeom>
          <a:solidFill>
            <a:srgbClr val="E6E8E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58117" y="3392768"/>
            <a:ext cx="7715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Tarik S. Paiva · Vitor H. O. Silva · Germano B. dos Santos · Fabrício A. Silva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58117" y="3583263"/>
            <a:ext cx="7715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Apresentador: Vitor H. O. Silva</a:t>
            </a:r>
            <a:endParaRPr b="0" i="0" sz="9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58117" y="3749946"/>
            <a:ext cx="7715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NESPeD-LAB · Universidade Federal de Viçosa, Florestal, MG</a:t>
            </a:r>
            <a:endParaRPr b="0" i="0" sz="9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658117" y="3940865"/>
            <a:ext cx="7715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X Workshop de Computação Urbana (CoUrb 2026) · SBRC 2026</a:t>
            </a:r>
            <a:endParaRPr b="0" i="0" sz="9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658117" y="4131811"/>
            <a:ext cx="7715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25 de maio de 2026</a:t>
            </a:r>
            <a:endParaRPr b="0" i="0" sz="9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4"/>
          <p:cNvGrpSpPr/>
          <p:nvPr/>
        </p:nvGrpSpPr>
        <p:grpSpPr>
          <a:xfrm>
            <a:off x="0" y="4841708"/>
            <a:ext cx="9144000" cy="314096"/>
            <a:chOff x="0" y="4476750"/>
            <a:chExt cx="9144000" cy="381000"/>
          </a:xfrm>
        </p:grpSpPr>
        <p:sp>
          <p:nvSpPr>
            <p:cNvPr id="99" name="Google Shape;99;p14"/>
            <p:cNvSpPr/>
            <p:nvPr/>
          </p:nvSpPr>
          <p:spPr>
            <a:xfrm>
              <a:off x="0" y="4476750"/>
              <a:ext cx="9144000" cy="381000"/>
            </a:xfrm>
            <a:prstGeom prst="rect">
              <a:avLst/>
            </a:prstGeom>
            <a:solidFill>
              <a:srgbClr val="F4F6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0" y="4476750"/>
              <a:ext cx="9144000" cy="9600"/>
            </a:xfrm>
            <a:prstGeom prst="rect">
              <a:avLst/>
            </a:prstGeom>
            <a:solidFill>
              <a:srgbClr val="E6E8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14"/>
          <p:cNvSpPr/>
          <p:nvPr/>
        </p:nvSpPr>
        <p:spPr>
          <a:xfrm>
            <a:off x="0" y="0"/>
            <a:ext cx="9144000" cy="28500"/>
          </a:xfrm>
          <a:prstGeom prst="rect">
            <a:avLst/>
          </a:prstGeom>
          <a:solidFill>
            <a:srgbClr val="16A08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76251" y="380990"/>
            <a:ext cx="8191500" cy="31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40"/>
              <a:buFont typeface="Arial"/>
              <a:buNone/>
            </a:pPr>
            <a:r>
              <a:rPr b="1" i="0" lang="en-GB" sz="204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LBSNs, POIs e Aprendizado Multitarefa</a:t>
            </a:r>
            <a:endParaRPr b="1" i="0" sz="204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363475" y="1226550"/>
            <a:ext cx="3952800" cy="1047900"/>
          </a:xfrm>
          <a:prstGeom prst="roundRect">
            <a:avLst>
              <a:gd fmla="val 7272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363475" y="1226550"/>
            <a:ext cx="38100" cy="1047900"/>
          </a:xfrm>
          <a:prstGeom prst="rect">
            <a:avLst/>
          </a:prstGeom>
          <a:solidFill>
            <a:srgbClr val="16A08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553975" y="1321800"/>
            <a:ext cx="3619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📍 O que é um POI?</a:t>
            </a:r>
            <a:endParaRPr b="1" i="0" sz="1100" u="none" cap="none" strike="noStrike">
              <a:solidFill>
                <a:srgbClr val="16A08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Ponto de Interesse</a:t>
            </a:r>
            <a:r>
              <a:rPr b="0" i="0" lang="en-GB" sz="10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b="0" i="1" lang="en-GB" sz="10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Point of Interest</a:t>
            </a:r>
            <a:r>
              <a:rPr b="0" i="0" lang="en-GB" sz="10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): uma localização física específica (ex: restaurante, parque) que desperta o interesse de um usuário para visitação.</a:t>
            </a:r>
            <a:endParaRPr b="0" i="0" sz="1000" u="none" cap="none" strike="noStrike">
              <a:solidFill>
                <a:srgbClr val="2B2B2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752975" y="1226550"/>
            <a:ext cx="3952800" cy="1047900"/>
          </a:xfrm>
          <a:prstGeom prst="roundRect">
            <a:avLst>
              <a:gd fmla="val 7272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4752975" y="1226550"/>
            <a:ext cx="38100" cy="1047900"/>
          </a:xfrm>
          <a:prstGeom prst="rect">
            <a:avLst/>
          </a:prstGeom>
          <a:solidFill>
            <a:srgbClr val="16A08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943475" y="1321800"/>
            <a:ext cx="3619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🧠 O que é MTL?</a:t>
            </a:r>
            <a:endParaRPr b="1" i="0" sz="1100" u="none" cap="none" strike="noStrike">
              <a:solidFill>
                <a:srgbClr val="16A08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GB" sz="10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Multi-Task Learning</a:t>
            </a:r>
            <a:r>
              <a:rPr b="0" i="0" lang="en-GB" sz="10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: abordagem de redes neurais que treina múltiplas tarefas de forma conjunta para compartilhar conhecimentos e melhorar a generalização.</a:t>
            </a:r>
            <a:endParaRPr b="0" i="0" sz="1000" u="none" cap="none" strike="noStrike">
              <a:solidFill>
                <a:srgbClr val="2B2B2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363475" y="2805900"/>
            <a:ext cx="3952800" cy="1333500"/>
          </a:xfrm>
          <a:prstGeom prst="roundRect">
            <a:avLst>
              <a:gd fmla="val 5714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363475" y="2805900"/>
            <a:ext cx="38100" cy="1333500"/>
          </a:xfrm>
          <a:prstGeom prst="rect">
            <a:avLst/>
          </a:prstGeom>
          <a:solidFill>
            <a:srgbClr val="16A08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3220975" y="2901150"/>
            <a:ext cx="952500" cy="107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NÃO-SEQUENCIAL</a:t>
            </a:r>
            <a:endParaRPr b="1" i="0" sz="700" u="none" cap="none" strike="noStrike">
              <a:solidFill>
                <a:srgbClr val="7F8C8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553975" y="2948775"/>
            <a:ext cx="3810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🏷️</a:t>
            </a:r>
            <a:endParaRPr b="0" i="0" sz="18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553975" y="3329775"/>
            <a:ext cx="34290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Classificação de Categoria de POI</a:t>
            </a:r>
            <a:endParaRPr b="1" i="0" sz="13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553975" y="3615525"/>
            <a:ext cx="34290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Identificar a categoria semântica de um POI (ex: Comida, Lazer) a partir de suas características estáticas.</a:t>
            </a:r>
            <a:endParaRPr b="0" i="0" sz="1000" u="none" cap="none" strike="noStrike">
              <a:solidFill>
                <a:srgbClr val="2B2B2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4714875" y="2805900"/>
            <a:ext cx="3952800" cy="1333500"/>
          </a:xfrm>
          <a:prstGeom prst="roundRect">
            <a:avLst>
              <a:gd fmla="val 5714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4714875" y="2805900"/>
            <a:ext cx="38100" cy="1333500"/>
          </a:xfrm>
          <a:prstGeom prst="rect">
            <a:avLst/>
          </a:prstGeom>
          <a:solidFill>
            <a:srgbClr val="16A08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7572375" y="2901150"/>
            <a:ext cx="952500" cy="107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SEQUENCIAL</a:t>
            </a:r>
            <a:endParaRPr b="1" i="0" sz="700" u="none" cap="none" strike="noStrike">
              <a:solidFill>
                <a:srgbClr val="7F8C8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4905375" y="2948775"/>
            <a:ext cx="3810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➡️</a:t>
            </a:r>
            <a:endParaRPr b="0" i="0" sz="18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4905375" y="3329775"/>
            <a:ext cx="34290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Predição do Próximo POI</a:t>
            </a:r>
            <a:endParaRPr b="1" i="0" sz="13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4905375" y="3615525"/>
            <a:ext cx="34290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Prever a categoria ou local do próximo POI que o usuário visitará com base em seu histórico de movimentação.</a:t>
            </a:r>
            <a:endParaRPr b="0" i="0" sz="1000" u="none" cap="none" strike="noStrike">
              <a:solidFill>
                <a:srgbClr val="2B2B2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21" name="Google Shape;121;p14"/>
          <p:cNvGrpSpPr/>
          <p:nvPr/>
        </p:nvGrpSpPr>
        <p:grpSpPr>
          <a:xfrm>
            <a:off x="424388" y="4944897"/>
            <a:ext cx="8295231" cy="107704"/>
            <a:chOff x="424387" y="5010300"/>
            <a:chExt cx="8295231" cy="107704"/>
          </a:xfrm>
        </p:grpSpPr>
        <p:sp>
          <p:nvSpPr>
            <p:cNvPr id="122" name="Google Shape;122;p14"/>
            <p:cNvSpPr txBox="1"/>
            <p:nvPr/>
          </p:nvSpPr>
          <p:spPr>
            <a:xfrm>
              <a:off x="424387" y="5010304"/>
              <a:ext cx="1295100" cy="10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GB" sz="700" u="none" cap="none" strike="noStrike">
                  <a:solidFill>
                    <a:srgbClr val="7F8C8D"/>
                  </a:solidFill>
                  <a:latin typeface="Inter"/>
                  <a:ea typeface="Inter"/>
                  <a:cs typeface="Inter"/>
                  <a:sym typeface="Inter"/>
                </a:rPr>
                <a:t>ST-MTLNet @ CoUrb 2026</a:t>
              </a:r>
              <a:endParaRPr b="0" i="0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3" name="Google Shape;123;p14"/>
            <p:cNvSpPr txBox="1"/>
            <p:nvPr/>
          </p:nvSpPr>
          <p:spPr>
            <a:xfrm>
              <a:off x="8473018" y="5010300"/>
              <a:ext cx="246600" cy="10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-GB" sz="700" u="none" cap="none" strike="noStrike">
                  <a:solidFill>
                    <a:srgbClr val="7F8C8D"/>
                  </a:solidFill>
                  <a:latin typeface="Inter"/>
                  <a:ea typeface="Inter"/>
                  <a:cs typeface="Inter"/>
                  <a:sym typeface="Inter"/>
                </a:rPr>
                <a:t>2 / 10</a:t>
              </a:r>
              <a:endParaRPr b="1" i="0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/>
          <p:nvPr/>
        </p:nvSpPr>
        <p:spPr>
          <a:xfrm>
            <a:off x="0" y="0"/>
            <a:ext cx="9144015" cy="28574"/>
          </a:xfrm>
          <a:prstGeom prst="rect">
            <a:avLst/>
          </a:prstGeom>
          <a:solidFill>
            <a:srgbClr val="16A08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476251" y="380990"/>
            <a:ext cx="8191514" cy="333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 um Vetor Monolítico para Três Vetores Especializados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" name="Google Shape;130;p15"/>
          <p:cNvGrpSpPr/>
          <p:nvPr/>
        </p:nvGrpSpPr>
        <p:grpSpPr>
          <a:xfrm>
            <a:off x="1342925" y="1205300"/>
            <a:ext cx="1810001" cy="2039956"/>
            <a:chOff x="1285775" y="952479"/>
            <a:chExt cx="1810001" cy="2039956"/>
          </a:xfrm>
        </p:grpSpPr>
        <p:sp>
          <p:nvSpPr>
            <p:cNvPr id="131" name="Google Shape;131;p15"/>
            <p:cNvSpPr txBox="1"/>
            <p:nvPr/>
          </p:nvSpPr>
          <p:spPr>
            <a:xfrm>
              <a:off x="1285775" y="952479"/>
              <a:ext cx="18099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GB" sz="700" u="none" cap="none" strike="noStrike">
                  <a:solidFill>
                    <a:srgbClr val="7F8C8D"/>
                  </a:solidFill>
                  <a:latin typeface="Inter"/>
                  <a:ea typeface="Inter"/>
                  <a:cs typeface="Inter"/>
                  <a:sym typeface="Inter"/>
                </a:rPr>
                <a:t>MTLNet [Silva et al., 2025]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2" name="Google Shape;132;p15"/>
            <p:cNvGrpSpPr/>
            <p:nvPr/>
          </p:nvGrpSpPr>
          <p:grpSpPr>
            <a:xfrm>
              <a:off x="1285802" y="1166755"/>
              <a:ext cx="1809973" cy="1264200"/>
              <a:chOff x="2028477" y="2255580"/>
              <a:chExt cx="1809973" cy="1264200"/>
            </a:xfrm>
          </p:grpSpPr>
          <p:sp>
            <p:nvSpPr>
              <p:cNvPr id="133" name="Google Shape;133;p15"/>
              <p:cNvSpPr/>
              <p:nvPr/>
            </p:nvSpPr>
            <p:spPr>
              <a:xfrm>
                <a:off x="2028550" y="2255580"/>
                <a:ext cx="1809900" cy="1264200"/>
              </a:xfrm>
              <a:prstGeom prst="roundRect">
                <a:avLst>
                  <a:gd fmla="val 8000" name="adj"/>
                </a:avLst>
              </a:prstGeom>
              <a:solidFill>
                <a:srgbClr val="16A086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15"/>
              <p:cNvSpPr txBox="1"/>
              <p:nvPr/>
            </p:nvSpPr>
            <p:spPr>
              <a:xfrm>
                <a:off x="2028477" y="2727034"/>
                <a:ext cx="1809900" cy="2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b="1" i="0" lang="en-GB" sz="1300" u="none" cap="none" strike="noStrike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DGI ∈ ℝ⁶⁴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5" name="Google Shape;135;p15"/>
            <p:cNvSpPr txBox="1"/>
            <p:nvPr/>
          </p:nvSpPr>
          <p:spPr>
            <a:xfrm>
              <a:off x="1285875" y="2567900"/>
              <a:ext cx="8574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-GB" sz="700" u="none" cap="none" strike="noStrike">
                  <a:solidFill>
                    <a:srgbClr val="7F8C8D"/>
                  </a:solidFill>
                  <a:latin typeface="Inter"/>
                  <a:ea typeface="Inter"/>
                  <a:cs typeface="Inter"/>
                  <a:sym typeface="Inter"/>
                </a:rPr>
                <a:t>espaço</a:t>
              </a:r>
              <a:endParaRPr b="1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GB" sz="800" u="none" cap="none" strike="noStrike">
                  <a:solidFill>
                    <a:srgbClr val="16A086"/>
                  </a:solidFill>
                  <a:latin typeface="Inter"/>
                  <a:ea typeface="Inter"/>
                  <a:cs typeface="Inter"/>
                  <a:sym typeface="Inter"/>
                </a:rPr>
                <a:t>↑</a:t>
              </a:r>
              <a:endParaRPr b="1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5"/>
            <p:cNvSpPr txBox="1"/>
            <p:nvPr/>
          </p:nvSpPr>
          <p:spPr>
            <a:xfrm>
              <a:off x="2238376" y="2567900"/>
              <a:ext cx="8574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-GB" sz="700" u="none" cap="none" strike="noStrike">
                  <a:solidFill>
                    <a:srgbClr val="7F8C8D"/>
                  </a:solidFill>
                  <a:latin typeface="Inter"/>
                  <a:ea typeface="Inter"/>
                  <a:cs typeface="Inter"/>
                  <a:sym typeface="Inter"/>
                </a:rPr>
                <a:t>categoria</a:t>
              </a:r>
              <a:endParaRPr b="1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GB" sz="800" u="none" cap="none" strike="noStrike">
                  <a:solidFill>
                    <a:srgbClr val="16A086"/>
                  </a:solidFill>
                  <a:latin typeface="Inter"/>
                  <a:ea typeface="Inter"/>
                  <a:cs typeface="Inter"/>
                  <a:sym typeface="Inter"/>
                </a:rPr>
                <a:t>↑</a:t>
              </a:r>
              <a:endParaRPr b="1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5"/>
            <p:cNvSpPr txBox="1"/>
            <p:nvPr/>
          </p:nvSpPr>
          <p:spPr>
            <a:xfrm>
              <a:off x="1285875" y="2869435"/>
              <a:ext cx="18099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1" lang="en-GB" sz="800" u="none" cap="none" strike="noStrike">
                  <a:solidFill>
                    <a:srgbClr val="7F8C8D"/>
                  </a:solidFill>
                  <a:latin typeface="Inter"/>
                  <a:ea typeface="Inter"/>
                  <a:cs typeface="Inter"/>
                  <a:sym typeface="Inter"/>
                </a:rPr>
                <a:t>(sem tempo)</a:t>
              </a:r>
              <a:endParaRPr b="1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" name="Google Shape;138;p15"/>
          <p:cNvGrpSpPr/>
          <p:nvPr/>
        </p:nvGrpSpPr>
        <p:grpSpPr>
          <a:xfrm>
            <a:off x="5461009" y="1205297"/>
            <a:ext cx="3238500" cy="2085101"/>
            <a:chOff x="5429259" y="952476"/>
            <a:chExt cx="3238500" cy="2085101"/>
          </a:xfrm>
        </p:grpSpPr>
        <p:sp>
          <p:nvSpPr>
            <p:cNvPr id="139" name="Google Shape;139;p15"/>
            <p:cNvSpPr/>
            <p:nvPr/>
          </p:nvSpPr>
          <p:spPr>
            <a:xfrm>
              <a:off x="6191261" y="1142971"/>
              <a:ext cx="1809753" cy="523862"/>
            </a:xfrm>
            <a:prstGeom prst="roundRect">
              <a:avLst>
                <a:gd fmla="val 16000" name="adj"/>
              </a:avLst>
            </a:prstGeom>
            <a:solidFill>
              <a:srgbClr val="16A08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5"/>
            <p:cNvSpPr/>
            <p:nvPr/>
          </p:nvSpPr>
          <p:spPr>
            <a:xfrm>
              <a:off x="6191261" y="1733506"/>
              <a:ext cx="1809753" cy="523862"/>
            </a:xfrm>
            <a:prstGeom prst="roundRect">
              <a:avLst>
                <a:gd fmla="val 16000" name="adj"/>
              </a:avLst>
            </a:prstGeom>
            <a:solidFill>
              <a:srgbClr val="E67E2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6191261" y="2324042"/>
              <a:ext cx="1809753" cy="523862"/>
            </a:xfrm>
            <a:prstGeom prst="roundRect">
              <a:avLst>
                <a:gd fmla="val 16000" name="adj"/>
              </a:avLst>
            </a:prstGeom>
            <a:solidFill>
              <a:srgbClr val="663399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2" name="Google Shape;142;p15"/>
            <p:cNvGrpSpPr/>
            <p:nvPr/>
          </p:nvGrpSpPr>
          <p:grpSpPr>
            <a:xfrm>
              <a:off x="5429259" y="952476"/>
              <a:ext cx="3238500" cy="2085101"/>
              <a:chOff x="5429259" y="952476"/>
              <a:chExt cx="3238500" cy="2085101"/>
            </a:xfrm>
          </p:grpSpPr>
          <p:sp>
            <p:nvSpPr>
              <p:cNvPr id="143" name="Google Shape;143;p15"/>
              <p:cNvSpPr txBox="1"/>
              <p:nvPr/>
            </p:nvSpPr>
            <p:spPr>
              <a:xfrm>
                <a:off x="5429259" y="952476"/>
                <a:ext cx="3238500" cy="10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0" i="0" lang="en-GB" sz="700" u="none" cap="none" strike="noStrike">
                    <a:solidFill>
                      <a:srgbClr val="7F8C8D"/>
                    </a:solidFill>
                    <a:latin typeface="Inter"/>
                    <a:ea typeface="Inter"/>
                    <a:cs typeface="Inter"/>
                    <a:sym typeface="Inter"/>
                  </a:rPr>
                  <a:t>ST-MTLNet (este trabalho)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15"/>
              <p:cNvSpPr txBox="1"/>
              <p:nvPr/>
            </p:nvSpPr>
            <p:spPr>
              <a:xfrm>
                <a:off x="6191261" y="1319884"/>
                <a:ext cx="18099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GB" sz="1000" u="none" cap="none" strike="noStrike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🌐 Spatial · 64-d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15"/>
              <p:cNvSpPr txBox="1"/>
              <p:nvPr/>
            </p:nvSpPr>
            <p:spPr>
              <a:xfrm>
                <a:off x="6191261" y="1918494"/>
                <a:ext cx="18099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GB" sz="1000" u="none" cap="none" strike="noStrike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🕒 Time · 64-d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15"/>
              <p:cNvSpPr txBox="1"/>
              <p:nvPr/>
            </p:nvSpPr>
            <p:spPr>
              <a:xfrm>
                <a:off x="6191198" y="2509017"/>
                <a:ext cx="18099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GB" sz="1000" u="none" cap="none" strike="noStrike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🏷️ Category · 64-d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15"/>
              <p:cNvSpPr txBox="1"/>
              <p:nvPr/>
            </p:nvSpPr>
            <p:spPr>
              <a:xfrm>
                <a:off x="6191261" y="2914577"/>
                <a:ext cx="1809900" cy="12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n-GB" sz="800" u="none" cap="none" strike="noStrike">
                    <a:solidFill>
                      <a:srgbClr val="7F8C8D"/>
                    </a:solidFill>
                    <a:latin typeface="Inter"/>
                    <a:ea typeface="Inter"/>
                    <a:cs typeface="Inter"/>
                    <a:sym typeface="Inter"/>
                  </a:rPr>
                  <a:t>concat → 192-d</a:t>
                </a:r>
                <a:endParaRPr b="1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8" name="Google Shape;148;p15"/>
          <p:cNvSpPr txBox="1"/>
          <p:nvPr/>
        </p:nvSpPr>
        <p:spPr>
          <a:xfrm>
            <a:off x="533401" y="3781331"/>
            <a:ext cx="8096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HIPÓTESE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533400" y="3943250"/>
            <a:ext cx="80964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Representações desacopladas com encoders especializados capturam dimensões complementares que o DGI ignora.</a:t>
            </a:r>
            <a:endParaRPr b="1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50" name="Google Shape;150;p15"/>
          <p:cNvGrpSpPr/>
          <p:nvPr/>
        </p:nvGrpSpPr>
        <p:grpSpPr>
          <a:xfrm>
            <a:off x="0" y="4824283"/>
            <a:ext cx="9144000" cy="314096"/>
            <a:chOff x="0" y="4476750"/>
            <a:chExt cx="9144000" cy="381000"/>
          </a:xfrm>
        </p:grpSpPr>
        <p:sp>
          <p:nvSpPr>
            <p:cNvPr id="151" name="Google Shape;151;p15"/>
            <p:cNvSpPr/>
            <p:nvPr/>
          </p:nvSpPr>
          <p:spPr>
            <a:xfrm>
              <a:off x="0" y="4476750"/>
              <a:ext cx="9144000" cy="381000"/>
            </a:xfrm>
            <a:prstGeom prst="rect">
              <a:avLst/>
            </a:prstGeom>
            <a:solidFill>
              <a:srgbClr val="F4F6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0" y="4476750"/>
              <a:ext cx="9144000" cy="9600"/>
            </a:xfrm>
            <a:prstGeom prst="rect">
              <a:avLst/>
            </a:prstGeom>
            <a:solidFill>
              <a:srgbClr val="E6E8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3" name="Google Shape;153;p15"/>
          <p:cNvGrpSpPr/>
          <p:nvPr/>
        </p:nvGrpSpPr>
        <p:grpSpPr>
          <a:xfrm>
            <a:off x="424388" y="4927472"/>
            <a:ext cx="8295231" cy="107704"/>
            <a:chOff x="424387" y="5010300"/>
            <a:chExt cx="8295231" cy="107704"/>
          </a:xfrm>
        </p:grpSpPr>
        <p:sp>
          <p:nvSpPr>
            <p:cNvPr id="154" name="Google Shape;154;p15"/>
            <p:cNvSpPr txBox="1"/>
            <p:nvPr/>
          </p:nvSpPr>
          <p:spPr>
            <a:xfrm>
              <a:off x="424387" y="5010304"/>
              <a:ext cx="1295100" cy="10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GB" sz="700" u="none" cap="none" strike="noStrike">
                  <a:solidFill>
                    <a:srgbClr val="7F8C8D"/>
                  </a:solidFill>
                  <a:latin typeface="Inter"/>
                  <a:ea typeface="Inter"/>
                  <a:cs typeface="Inter"/>
                  <a:sym typeface="Inter"/>
                </a:rPr>
                <a:t>ST-MTLNet @ CoUrb 2026</a:t>
              </a:r>
              <a:endParaRPr b="0" i="0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5" name="Google Shape;155;p15"/>
            <p:cNvSpPr txBox="1"/>
            <p:nvPr/>
          </p:nvSpPr>
          <p:spPr>
            <a:xfrm>
              <a:off x="8473018" y="5010300"/>
              <a:ext cx="246600" cy="10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-GB" sz="700" u="none" cap="none" strike="noStrike">
                  <a:solidFill>
                    <a:srgbClr val="7F8C8D"/>
                  </a:solidFill>
                  <a:latin typeface="Inter"/>
                  <a:ea typeface="Inter"/>
                  <a:cs typeface="Inter"/>
                  <a:sym typeface="Inter"/>
                </a:rPr>
                <a:t>3 / 10</a:t>
              </a:r>
              <a:endParaRPr b="1" i="0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6" name="Google Shape;156;p15"/>
          <p:cNvGrpSpPr/>
          <p:nvPr/>
        </p:nvGrpSpPr>
        <p:grpSpPr>
          <a:xfrm>
            <a:off x="3665650" y="2059697"/>
            <a:ext cx="1895275" cy="200100"/>
            <a:chOff x="3633900" y="1828835"/>
            <a:chExt cx="1895275" cy="200100"/>
          </a:xfrm>
        </p:grpSpPr>
        <p:sp>
          <p:nvSpPr>
            <p:cNvPr id="157" name="Google Shape;157;p15"/>
            <p:cNvSpPr txBox="1"/>
            <p:nvPr/>
          </p:nvSpPr>
          <p:spPr>
            <a:xfrm>
              <a:off x="4096172" y="1828835"/>
              <a:ext cx="8574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i="0" lang="en-GB" sz="1300" u="none" cap="none" strike="noStrike">
                  <a:solidFill>
                    <a:srgbClr val="16A086"/>
                  </a:solidFill>
                  <a:latin typeface="Inter"/>
                  <a:ea typeface="Inter"/>
                  <a:cs typeface="Inter"/>
                  <a:sym typeface="Inter"/>
                </a:rPr>
                <a:t>Decompor</a:t>
              </a:r>
              <a:endParaRPr b="0" i="0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58" name="Google Shape;158;p15"/>
            <p:cNvCxnSpPr/>
            <p:nvPr/>
          </p:nvCxnSpPr>
          <p:spPr>
            <a:xfrm>
              <a:off x="5026075" y="1928585"/>
              <a:ext cx="503100" cy="600"/>
            </a:xfrm>
            <a:prstGeom prst="straightConnector1">
              <a:avLst/>
            </a:prstGeom>
            <a:noFill/>
            <a:ln cap="flat" cmpd="sng" w="28575">
              <a:solidFill>
                <a:srgbClr val="18A08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59" name="Google Shape;159;p15"/>
            <p:cNvCxnSpPr/>
            <p:nvPr/>
          </p:nvCxnSpPr>
          <p:spPr>
            <a:xfrm flipH="1">
              <a:off x="3633900" y="1927685"/>
              <a:ext cx="403500" cy="2400"/>
            </a:xfrm>
            <a:prstGeom prst="straightConnector1">
              <a:avLst/>
            </a:prstGeom>
            <a:noFill/>
            <a:ln cap="flat" cmpd="sng" w="28575">
              <a:solidFill>
                <a:srgbClr val="18A08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"/>
          <p:cNvSpPr/>
          <p:nvPr/>
        </p:nvSpPr>
        <p:spPr>
          <a:xfrm>
            <a:off x="0" y="0"/>
            <a:ext cx="9144015" cy="28574"/>
          </a:xfrm>
          <a:prstGeom prst="rect">
            <a:avLst/>
          </a:prstGeom>
          <a:solidFill>
            <a:srgbClr val="16A08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476251" y="380990"/>
            <a:ext cx="8191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ST-MTLNet — Arquitetura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rquitetura_modelo.png" id="166" name="Google Shape;16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8" y="1135050"/>
            <a:ext cx="8006945" cy="252850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/>
          <p:nvPr/>
        </p:nvSpPr>
        <p:spPr>
          <a:xfrm>
            <a:off x="476250" y="3832827"/>
            <a:ext cx="80070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0"/>
              <a:buFont typeface="Arial"/>
              <a:buNone/>
            </a:pPr>
            <a:r>
              <a:rPr b="0" i="0" lang="en-GB" sz="114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MTLNet interno (FiLM + ResBlocks + heads) preservado — isolamos o efeito da representação de entrada.</a:t>
            </a:r>
            <a:endParaRPr b="0" i="0" sz="179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8" name="Google Shape;168;p16"/>
          <p:cNvGrpSpPr/>
          <p:nvPr/>
        </p:nvGrpSpPr>
        <p:grpSpPr>
          <a:xfrm>
            <a:off x="0" y="4824283"/>
            <a:ext cx="9144000" cy="314096"/>
            <a:chOff x="0" y="4476750"/>
            <a:chExt cx="9144000" cy="381000"/>
          </a:xfrm>
        </p:grpSpPr>
        <p:sp>
          <p:nvSpPr>
            <p:cNvPr id="169" name="Google Shape;169;p16"/>
            <p:cNvSpPr/>
            <p:nvPr/>
          </p:nvSpPr>
          <p:spPr>
            <a:xfrm>
              <a:off x="0" y="4476750"/>
              <a:ext cx="9144000" cy="381000"/>
            </a:xfrm>
            <a:prstGeom prst="rect">
              <a:avLst/>
            </a:prstGeom>
            <a:solidFill>
              <a:srgbClr val="F4F6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0" y="4476750"/>
              <a:ext cx="9144000" cy="9600"/>
            </a:xfrm>
            <a:prstGeom prst="rect">
              <a:avLst/>
            </a:prstGeom>
            <a:solidFill>
              <a:srgbClr val="E6E8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1" name="Google Shape;171;p16"/>
          <p:cNvGrpSpPr/>
          <p:nvPr/>
        </p:nvGrpSpPr>
        <p:grpSpPr>
          <a:xfrm>
            <a:off x="424388" y="4927472"/>
            <a:ext cx="8283324" cy="107704"/>
            <a:chOff x="424387" y="5010300"/>
            <a:chExt cx="8283324" cy="107704"/>
          </a:xfrm>
        </p:grpSpPr>
        <p:sp>
          <p:nvSpPr>
            <p:cNvPr id="172" name="Google Shape;172;p16"/>
            <p:cNvSpPr txBox="1"/>
            <p:nvPr/>
          </p:nvSpPr>
          <p:spPr>
            <a:xfrm>
              <a:off x="424387" y="5010304"/>
              <a:ext cx="1295100" cy="10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GB" sz="700" u="none" cap="none" strike="noStrike">
                  <a:solidFill>
                    <a:srgbClr val="7F8C8D"/>
                  </a:solidFill>
                  <a:latin typeface="Inter"/>
                  <a:ea typeface="Inter"/>
                  <a:cs typeface="Inter"/>
                  <a:sym typeface="Inter"/>
                </a:rPr>
                <a:t>ST-MTLNet @ CoUrb 2026</a:t>
              </a:r>
              <a:endParaRPr b="0" i="0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3" name="Google Shape;173;p16"/>
            <p:cNvSpPr txBox="1"/>
            <p:nvPr/>
          </p:nvSpPr>
          <p:spPr>
            <a:xfrm>
              <a:off x="8461111" y="5010300"/>
              <a:ext cx="246600" cy="10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-GB" sz="700" u="none" cap="none" strike="noStrike">
                  <a:solidFill>
                    <a:srgbClr val="7F8C8D"/>
                  </a:solidFill>
                  <a:latin typeface="Inter"/>
                  <a:ea typeface="Inter"/>
                  <a:cs typeface="Inter"/>
                  <a:sym typeface="Inter"/>
                </a:rPr>
                <a:t>4 / 10</a:t>
              </a:r>
              <a:endParaRPr b="1" i="0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/>
          <p:nvPr/>
        </p:nvSpPr>
        <p:spPr>
          <a:xfrm>
            <a:off x="0" y="0"/>
            <a:ext cx="9144015" cy="28574"/>
          </a:xfrm>
          <a:prstGeom prst="rect">
            <a:avLst/>
          </a:prstGeom>
          <a:solidFill>
            <a:srgbClr val="16A08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476251" y="380990"/>
            <a:ext cx="8191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Encoder Categórico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" name="Google Shape;180;p17"/>
          <p:cNvGrpSpPr/>
          <p:nvPr/>
        </p:nvGrpSpPr>
        <p:grpSpPr>
          <a:xfrm>
            <a:off x="0" y="4824283"/>
            <a:ext cx="9144000" cy="314096"/>
            <a:chOff x="0" y="4476750"/>
            <a:chExt cx="9144000" cy="381000"/>
          </a:xfrm>
        </p:grpSpPr>
        <p:sp>
          <p:nvSpPr>
            <p:cNvPr id="181" name="Google Shape;181;p17"/>
            <p:cNvSpPr/>
            <p:nvPr/>
          </p:nvSpPr>
          <p:spPr>
            <a:xfrm>
              <a:off x="0" y="4476750"/>
              <a:ext cx="9144000" cy="381000"/>
            </a:xfrm>
            <a:prstGeom prst="rect">
              <a:avLst/>
            </a:prstGeom>
            <a:solidFill>
              <a:srgbClr val="F4F6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7"/>
            <p:cNvSpPr/>
            <p:nvPr/>
          </p:nvSpPr>
          <p:spPr>
            <a:xfrm>
              <a:off x="0" y="4476750"/>
              <a:ext cx="9144000" cy="9600"/>
            </a:xfrm>
            <a:prstGeom prst="rect">
              <a:avLst/>
            </a:prstGeom>
            <a:solidFill>
              <a:srgbClr val="E6E8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" name="Google Shape;183;p17"/>
          <p:cNvGrpSpPr/>
          <p:nvPr/>
        </p:nvGrpSpPr>
        <p:grpSpPr>
          <a:xfrm>
            <a:off x="424388" y="4927472"/>
            <a:ext cx="8283324" cy="107704"/>
            <a:chOff x="424387" y="5010300"/>
            <a:chExt cx="8283324" cy="107704"/>
          </a:xfrm>
        </p:grpSpPr>
        <p:sp>
          <p:nvSpPr>
            <p:cNvPr id="184" name="Google Shape;184;p17"/>
            <p:cNvSpPr txBox="1"/>
            <p:nvPr/>
          </p:nvSpPr>
          <p:spPr>
            <a:xfrm>
              <a:off x="424387" y="5010304"/>
              <a:ext cx="1295100" cy="10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GB" sz="700" u="none" cap="none" strike="noStrike">
                  <a:solidFill>
                    <a:srgbClr val="7F8C8D"/>
                  </a:solidFill>
                  <a:latin typeface="Inter"/>
                  <a:ea typeface="Inter"/>
                  <a:cs typeface="Inter"/>
                  <a:sym typeface="Inter"/>
                </a:rPr>
                <a:t>ST-MTLNet @ CoUrb 2026</a:t>
              </a:r>
              <a:endParaRPr b="0" i="0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5" name="Google Shape;185;p17"/>
            <p:cNvSpPr txBox="1"/>
            <p:nvPr/>
          </p:nvSpPr>
          <p:spPr>
            <a:xfrm>
              <a:off x="8461111" y="5010300"/>
              <a:ext cx="246600" cy="10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-GB" sz="700" u="none" cap="none" strike="noStrike">
                  <a:solidFill>
                    <a:srgbClr val="7F8C8D"/>
                  </a:solidFill>
                  <a:latin typeface="Inter"/>
                  <a:ea typeface="Inter"/>
                  <a:cs typeface="Inter"/>
                  <a:sym typeface="Inter"/>
                </a:rPr>
                <a:t>4A / 10</a:t>
              </a:r>
              <a:endParaRPr b="1" i="0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86" name="Google Shape;186;p17"/>
          <p:cNvSpPr txBox="1"/>
          <p:nvPr/>
        </p:nvSpPr>
        <p:spPr>
          <a:xfrm>
            <a:off x="476250" y="711200"/>
            <a:ext cx="80327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663399"/>
                </a:solidFill>
                <a:latin typeface="Inter"/>
                <a:ea typeface="Inter"/>
                <a:cs typeface="Inter"/>
                <a:sym typeface="Inter"/>
              </a:rPr>
              <a:t>Abordagem: </a:t>
            </a:r>
            <a:r>
              <a:rPr b="0" i="0" lang="en-GB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Hierarchical Graph Infomax (HGI) — maximização de informação mútua contrastiva sobre a hierarquia urbana POI → Região → Cidade.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476250" y="1117600"/>
            <a:ext cx="2540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Como funciona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476250" y="1308100"/>
            <a:ext cx="44450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Grafo: triangulação de </a:t>
            </a:r>
            <a:r>
              <a:rPr b="1" i="0" lang="en-GB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Delaunay</a:t>
            </a:r>
            <a:r>
              <a:rPr b="0" i="0" lang="en-GB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sobre as coordenadas dos POIs</a:t>
            </a:r>
            <a:endParaRPr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Codificadores </a:t>
            </a:r>
            <a:r>
              <a:rPr b="1" i="0" lang="en-GB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GCN + atenção (PMA)</a:t>
            </a:r>
            <a:r>
              <a:rPr b="0" i="0" lang="en-GB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nos níveis POI → Região → Cidade</a:t>
            </a:r>
            <a:endParaRPr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Treino contrastivo: discriminador bilinear σ(z₁ᵀW z₂); negativos por </a:t>
            </a:r>
            <a:r>
              <a:rPr b="1" i="0" lang="en-GB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corrupção</a:t>
            </a:r>
            <a:r>
              <a:rPr b="0" i="0" lang="en-GB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das features</a:t>
            </a:r>
            <a:endParaRPr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Objetivo: </a:t>
            </a:r>
            <a:r>
              <a:rPr b="1" i="0" lang="en-GB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 = α·L_POI→Região + (1−α)·L_Região→Cidade</a:t>
            </a:r>
            <a:r>
              <a:rPr b="0" i="0" lang="en-GB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(α = 0,5)</a:t>
            </a:r>
            <a:endParaRPr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Features de nó pré-treinadas com </a:t>
            </a:r>
            <a:r>
              <a:rPr b="1" i="0" lang="en-GB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Node2Vec + skip-gram</a:t>
            </a:r>
            <a:r>
              <a:rPr b="0" i="0" lang="en-GB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(módulo POI2Vec, nível fclass)</a:t>
            </a:r>
            <a:endParaRPr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Saída </a:t>
            </a:r>
            <a:r>
              <a:rPr b="1" i="0" lang="en-GB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64-d por POI</a:t>
            </a:r>
            <a:r>
              <a:rPr b="0" i="0" lang="en-GB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, concatenada com os demais (→ 192-d)</a:t>
            </a:r>
            <a:endParaRPr/>
          </a:p>
        </p:txBody>
      </p:sp>
      <p:sp>
        <p:nvSpPr>
          <p:cNvPr id="189" name="Google Shape;189;p17"/>
          <p:cNvSpPr/>
          <p:nvPr/>
        </p:nvSpPr>
        <p:spPr>
          <a:xfrm>
            <a:off x="5207000" y="1117600"/>
            <a:ext cx="3175000" cy="1587500"/>
          </a:xfrm>
          <a:prstGeom prst="roundRect">
            <a:avLst>
              <a:gd fmla="val 6000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5207000" y="1117600"/>
            <a:ext cx="31750" cy="1587500"/>
          </a:xfrm>
          <a:prstGeom prst="rect">
            <a:avLst/>
          </a:prstGeom>
          <a:solidFill>
            <a:srgbClr val="663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5321300" y="1193800"/>
            <a:ext cx="2984500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663399"/>
                </a:solidFill>
                <a:latin typeface="Inter"/>
                <a:ea typeface="Inter"/>
                <a:cs typeface="Inter"/>
                <a:sym typeface="Inter"/>
              </a:rPr>
              <a:t>Por que HGI?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5321300" y="1371600"/>
            <a:ext cx="29591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Captura a </a:t>
            </a:r>
            <a:r>
              <a:rPr b="1" i="0" lang="en-GB" sz="9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vizinhança fina</a:t>
            </a:r>
            <a:r>
              <a:rPr b="0" i="0" lang="en-GB" sz="9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 (POIs adjacentes) e o </a:t>
            </a:r>
            <a:r>
              <a:rPr b="1" i="0" lang="en-GB" sz="9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contexto urbano amplo</a:t>
            </a:r>
            <a:r>
              <a:rPr b="0" i="0" lang="en-GB" sz="9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 (região → cidade).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2B2B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Reforça a separabilidade entre categorias semanticamente próximas — é a extensão hierárquica do Deep Graph Infomax (DGI).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476250" y="3556000"/>
            <a:ext cx="8032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663399"/>
                </a:solidFill>
                <a:latin typeface="Inter"/>
                <a:ea typeface="Inter"/>
                <a:cs typeface="Inter"/>
                <a:sym typeface="Inter"/>
              </a:rPr>
              <a:t>Referências: </a:t>
            </a:r>
            <a:r>
              <a:rPr b="0" i="0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Huang et al., 2023 (HGI) · Veličković et al., 2019 (Deep Graph Infomax) · Grover &amp; Leskovec, 2016 (node2vec / POI2Vec)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1117600" y="3810000"/>
            <a:ext cx="6902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8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Mesmo encoder categórico do MTLNet original; aqui isolado como uma das três modalidades de entrada. Detalhes técnicos no apêndice A6.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/>
          <p:nvPr/>
        </p:nvSpPr>
        <p:spPr>
          <a:xfrm>
            <a:off x="0" y="0"/>
            <a:ext cx="9144000" cy="28500"/>
          </a:xfrm>
          <a:prstGeom prst="rect">
            <a:avLst/>
          </a:prstGeom>
          <a:solidFill>
            <a:srgbClr val="16A08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476251" y="380990"/>
            <a:ext cx="8191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Encoder Temporal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1" name="Google Shape;201;p18"/>
          <p:cNvGrpSpPr/>
          <p:nvPr/>
        </p:nvGrpSpPr>
        <p:grpSpPr>
          <a:xfrm>
            <a:off x="0" y="4824283"/>
            <a:ext cx="9144000" cy="314096"/>
            <a:chOff x="0" y="4476750"/>
            <a:chExt cx="9144000" cy="381000"/>
          </a:xfrm>
        </p:grpSpPr>
        <p:sp>
          <p:nvSpPr>
            <p:cNvPr id="202" name="Google Shape;202;p18"/>
            <p:cNvSpPr/>
            <p:nvPr/>
          </p:nvSpPr>
          <p:spPr>
            <a:xfrm>
              <a:off x="0" y="4476750"/>
              <a:ext cx="9144000" cy="381000"/>
            </a:xfrm>
            <a:prstGeom prst="rect">
              <a:avLst/>
            </a:prstGeom>
            <a:solidFill>
              <a:srgbClr val="F4F6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8"/>
            <p:cNvSpPr/>
            <p:nvPr/>
          </p:nvSpPr>
          <p:spPr>
            <a:xfrm>
              <a:off x="0" y="4476750"/>
              <a:ext cx="9144000" cy="9600"/>
            </a:xfrm>
            <a:prstGeom prst="rect">
              <a:avLst/>
            </a:prstGeom>
            <a:solidFill>
              <a:srgbClr val="E6E8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4" name="Google Shape;204;p18"/>
          <p:cNvGrpSpPr/>
          <p:nvPr/>
        </p:nvGrpSpPr>
        <p:grpSpPr>
          <a:xfrm>
            <a:off x="424388" y="4927472"/>
            <a:ext cx="8283324" cy="107704"/>
            <a:chOff x="424387" y="5010300"/>
            <a:chExt cx="8283324" cy="107704"/>
          </a:xfrm>
        </p:grpSpPr>
        <p:sp>
          <p:nvSpPr>
            <p:cNvPr id="205" name="Google Shape;205;p18"/>
            <p:cNvSpPr txBox="1"/>
            <p:nvPr/>
          </p:nvSpPr>
          <p:spPr>
            <a:xfrm>
              <a:off x="424387" y="5010304"/>
              <a:ext cx="1295100" cy="10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GB" sz="700" u="none" cap="none" strike="noStrike">
                  <a:solidFill>
                    <a:srgbClr val="7F8C8D"/>
                  </a:solidFill>
                  <a:latin typeface="Inter"/>
                  <a:ea typeface="Inter"/>
                  <a:cs typeface="Inter"/>
                  <a:sym typeface="Inter"/>
                </a:rPr>
                <a:t>ST-MTLNet @ CoUrb 2026</a:t>
              </a:r>
              <a:endParaRPr b="0" i="0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6" name="Google Shape;206;p18"/>
            <p:cNvSpPr txBox="1"/>
            <p:nvPr/>
          </p:nvSpPr>
          <p:spPr>
            <a:xfrm>
              <a:off x="8461111" y="5010300"/>
              <a:ext cx="246600" cy="10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-GB" sz="700" u="none" cap="none" strike="noStrike">
                  <a:solidFill>
                    <a:srgbClr val="7F8C8D"/>
                  </a:solidFill>
                  <a:latin typeface="Inter"/>
                  <a:ea typeface="Inter"/>
                  <a:cs typeface="Inter"/>
                  <a:sym typeface="Inter"/>
                </a:rPr>
                <a:t>4B / 10</a:t>
              </a:r>
              <a:endParaRPr b="1" i="0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07" name="Google Shape;207;p18"/>
          <p:cNvSpPr txBox="1"/>
          <p:nvPr/>
        </p:nvSpPr>
        <p:spPr>
          <a:xfrm>
            <a:off x="476250" y="711200"/>
            <a:ext cx="80327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E67E22"/>
                </a:solidFill>
                <a:latin typeface="Inter"/>
                <a:ea typeface="Inter"/>
                <a:cs typeface="Inter"/>
                <a:sym typeface="Inter"/>
              </a:rPr>
              <a:t>Abordagem: </a:t>
            </a:r>
            <a:r>
              <a:rPr b="0" i="0" lang="en-GB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Time2Vec — ativações periódicas aprendidas sobre (hora-do-dia, dia-da-semana), por check-in.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476250" y="1117600"/>
            <a:ext cx="2540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Como funciona</a:t>
            </a:r>
            <a:endParaRPr/>
          </a:p>
        </p:txBody>
      </p:sp>
      <p:sp>
        <p:nvSpPr>
          <p:cNvPr id="209" name="Google Shape;209;p18"/>
          <p:cNvSpPr/>
          <p:nvPr/>
        </p:nvSpPr>
        <p:spPr>
          <a:xfrm>
            <a:off x="476250" y="1308100"/>
            <a:ext cx="4445000" cy="457200"/>
          </a:xfrm>
          <a:prstGeom prst="roundRect">
            <a:avLst>
              <a:gd fmla="val 10000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603250" y="1384300"/>
            <a:ext cx="42164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f(τ)[i] = ω₀·τ + φ₀          se i = 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      = sin(ωᵢ·τ + φᵢ)     se 1 ≤ i ≤ D−1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476250" y="1905000"/>
            <a:ext cx="44450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Entrada τ = (hora/24, dia/7); </a:t>
            </a:r>
            <a:r>
              <a:rPr b="1" i="0" lang="en-GB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SineActivation 2→64</a:t>
            </a:r>
            <a:r>
              <a:rPr b="0" i="0" lang="en-GB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= 1 termo linear + 63 senoidais</a:t>
            </a:r>
            <a:endParaRPr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Projeção Linear 64→64; saída </a:t>
            </a:r>
            <a:r>
              <a:rPr b="1" i="0" lang="en-GB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64-d L2-normalizada</a:t>
            </a:r>
            <a:endParaRPr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Termo linear → </a:t>
            </a:r>
            <a:r>
              <a:rPr b="1" i="0" lang="en-GB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tendência</a:t>
            </a:r>
            <a:r>
              <a:rPr b="0" i="0" lang="en-GB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;  senoidais → </a:t>
            </a:r>
            <a:r>
              <a:rPr b="1" i="0" lang="en-GB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ciclos</a:t>
            </a:r>
            <a:r>
              <a:rPr b="0" i="0" lang="en-GB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com fase e frequência aprendidas</a:t>
            </a: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5207000" y="1117600"/>
            <a:ext cx="3175000" cy="1587500"/>
          </a:xfrm>
          <a:prstGeom prst="roundRect">
            <a:avLst>
              <a:gd fmla="val 6000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5207000" y="1117600"/>
            <a:ext cx="31750" cy="15875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5321300" y="1193800"/>
            <a:ext cx="2984500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E67E22"/>
                </a:solidFill>
                <a:latin typeface="Inter"/>
                <a:ea typeface="Inter"/>
                <a:cs typeface="Inter"/>
                <a:sym typeface="Inter"/>
              </a:rPr>
              <a:t>Por que Time2Vec?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5321300" y="1371600"/>
            <a:ext cx="29591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Generaliza encodings cíclicos fixos (sin/cos): fase e período são </a:t>
            </a:r>
            <a:r>
              <a:rPr b="1" i="0" lang="en-GB" sz="9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aprendidos</a:t>
            </a:r>
            <a:r>
              <a:rPr b="0" i="0" lang="en-GB" sz="9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, não fixados a priori.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2B2B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Captura periodicidades não-óbvias (ex.: 4,5 dias) que um encoding fixo não representa.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476250" y="3302000"/>
            <a:ext cx="8032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Pré-treino: </a:t>
            </a:r>
            <a:r>
              <a:rPr b="0" i="0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auto-supervisionado contrastivo — BCE sobre cos(zᵢ,zⱼ)/τ (τ = 0,3); par+ |Δt| ≤ 1h, par− ≥ 24h.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476250" y="3530600"/>
            <a:ext cx="8032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E67E22"/>
                </a:solidFill>
                <a:latin typeface="Inter"/>
                <a:ea typeface="Inter"/>
                <a:cs typeface="Inter"/>
                <a:sym typeface="Inter"/>
              </a:rPr>
              <a:t>Referência: </a:t>
            </a:r>
            <a:r>
              <a:rPr b="0" i="0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Kazemi et al., 2019 — Time2Vec: Learning a Vector Representation of Time (arXiv:1907.05321).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1117600" y="3810000"/>
            <a:ext cx="6902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8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Mesma estrutura de loss contrastiva binária do encoder espacial (par+ janela curta, par− janela longa). Detalhes técnicos no apêndice A5.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"/>
          <p:cNvSpPr/>
          <p:nvPr/>
        </p:nvSpPr>
        <p:spPr>
          <a:xfrm>
            <a:off x="0" y="0"/>
            <a:ext cx="9144000" cy="28500"/>
          </a:xfrm>
          <a:prstGeom prst="rect">
            <a:avLst/>
          </a:prstGeom>
          <a:solidFill>
            <a:srgbClr val="16A08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 txBox="1"/>
          <p:nvPr/>
        </p:nvSpPr>
        <p:spPr>
          <a:xfrm>
            <a:off x="476251" y="380990"/>
            <a:ext cx="8191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Duas Estratégias para Codificar Coordenadas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1104902" y="1095347"/>
            <a:ext cx="100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 txBox="1"/>
          <p:nvPr/>
        </p:nvSpPr>
        <p:spPr>
          <a:xfrm>
            <a:off x="2247904" y="1095347"/>
            <a:ext cx="2857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SIREN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9"/>
          <p:cNvSpPr txBox="1"/>
          <p:nvPr/>
        </p:nvSpPr>
        <p:spPr>
          <a:xfrm>
            <a:off x="5248284" y="1095347"/>
            <a:ext cx="2857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Sphere2Vec-M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1000127" y="1409665"/>
            <a:ext cx="7143900" cy="9600"/>
          </a:xfrm>
          <a:prstGeom prst="rect">
            <a:avLst/>
          </a:prstGeom>
          <a:solidFill>
            <a:srgbClr val="E6E8E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1104902" y="1511840"/>
            <a:ext cx="1000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Estratégia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2247904" y="1511840"/>
            <a:ext cx="2857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senoidal local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5248284" y="1511840"/>
            <a:ext cx="2857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esférica multi-escala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1000127" y="1743031"/>
            <a:ext cx="7143900" cy="4800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1000127" y="1743031"/>
            <a:ext cx="7143900" cy="3333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1104902" y="1842819"/>
            <a:ext cx="1000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Pressuposto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9"/>
          <p:cNvSpPr txBox="1"/>
          <p:nvPr/>
        </p:nvSpPr>
        <p:spPr>
          <a:xfrm>
            <a:off x="2247904" y="1842819"/>
            <a:ext cx="2857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ℝ² contínuo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5248284" y="1842819"/>
            <a:ext cx="2857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superfície esférica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1000127" y="2076398"/>
            <a:ext cx="7143900" cy="4800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 txBox="1"/>
          <p:nvPr/>
        </p:nvSpPr>
        <p:spPr>
          <a:xfrm>
            <a:off x="1104902" y="2180098"/>
            <a:ext cx="1000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Forte em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2247904" y="2180098"/>
            <a:ext cx="2857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alta frequência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9"/>
          <p:cNvSpPr txBox="1"/>
          <p:nvPr/>
        </p:nvSpPr>
        <p:spPr>
          <a:xfrm>
            <a:off x="5248284" y="2180098"/>
            <a:ext cx="2857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distância geodésica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1000127" y="2409765"/>
            <a:ext cx="7143900" cy="4800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1000127" y="2409765"/>
            <a:ext cx="7143900" cy="3333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1104902" y="2509540"/>
            <a:ext cx="1000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Referência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9"/>
          <p:cNvSpPr txBox="1"/>
          <p:nvPr/>
        </p:nvSpPr>
        <p:spPr>
          <a:xfrm>
            <a:off x="2247904" y="2509540"/>
            <a:ext cx="2857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Rußwurm '24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5248284" y="2509540"/>
            <a:ext cx="2857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Mai '23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1000127" y="2743132"/>
            <a:ext cx="7143900" cy="4800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"/>
          <p:cNvSpPr txBox="1"/>
          <p:nvPr/>
        </p:nvSpPr>
        <p:spPr>
          <a:xfrm>
            <a:off x="1115600" y="2802050"/>
            <a:ext cx="6900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-GB" sz="8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Mesma loss contrastiva binária (par+ ≤ 10 km, par− ≥ 70 km) — isola o efeito de arquitetura. Detalhes técnicos no apêndice.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8" name="Google Shape;248;p19"/>
          <p:cNvGrpSpPr/>
          <p:nvPr/>
        </p:nvGrpSpPr>
        <p:grpSpPr>
          <a:xfrm>
            <a:off x="0" y="4824283"/>
            <a:ext cx="9144000" cy="314096"/>
            <a:chOff x="0" y="4476750"/>
            <a:chExt cx="9144000" cy="381000"/>
          </a:xfrm>
        </p:grpSpPr>
        <p:sp>
          <p:nvSpPr>
            <p:cNvPr id="249" name="Google Shape;249;p19"/>
            <p:cNvSpPr/>
            <p:nvPr/>
          </p:nvSpPr>
          <p:spPr>
            <a:xfrm>
              <a:off x="0" y="4476750"/>
              <a:ext cx="9144000" cy="381000"/>
            </a:xfrm>
            <a:prstGeom prst="rect">
              <a:avLst/>
            </a:prstGeom>
            <a:solidFill>
              <a:srgbClr val="F4F6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9"/>
            <p:cNvSpPr/>
            <p:nvPr/>
          </p:nvSpPr>
          <p:spPr>
            <a:xfrm>
              <a:off x="0" y="4476750"/>
              <a:ext cx="9144000" cy="9600"/>
            </a:xfrm>
            <a:prstGeom prst="rect">
              <a:avLst/>
            </a:prstGeom>
            <a:solidFill>
              <a:srgbClr val="E6E8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1" name="Google Shape;251;p19"/>
          <p:cNvGrpSpPr/>
          <p:nvPr/>
        </p:nvGrpSpPr>
        <p:grpSpPr>
          <a:xfrm>
            <a:off x="424388" y="4927472"/>
            <a:ext cx="8283324" cy="107704"/>
            <a:chOff x="424387" y="5010300"/>
            <a:chExt cx="8283324" cy="107704"/>
          </a:xfrm>
        </p:grpSpPr>
        <p:sp>
          <p:nvSpPr>
            <p:cNvPr id="252" name="Google Shape;252;p19"/>
            <p:cNvSpPr txBox="1"/>
            <p:nvPr/>
          </p:nvSpPr>
          <p:spPr>
            <a:xfrm>
              <a:off x="424387" y="5010304"/>
              <a:ext cx="1295100" cy="10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GB" sz="700" u="none" cap="none" strike="noStrike">
                  <a:solidFill>
                    <a:srgbClr val="7F8C8D"/>
                  </a:solidFill>
                  <a:latin typeface="Inter"/>
                  <a:ea typeface="Inter"/>
                  <a:cs typeface="Inter"/>
                  <a:sym typeface="Inter"/>
                </a:rPr>
                <a:t>ST-MTLNet @ CoUrb 2026</a:t>
              </a:r>
              <a:endParaRPr b="0" i="0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3" name="Google Shape;253;p19"/>
            <p:cNvSpPr txBox="1"/>
            <p:nvPr/>
          </p:nvSpPr>
          <p:spPr>
            <a:xfrm>
              <a:off x="8461111" y="5010300"/>
              <a:ext cx="246600" cy="10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-GB" sz="700" u="none" cap="none" strike="noStrike">
                  <a:solidFill>
                    <a:srgbClr val="7F8C8D"/>
                  </a:solidFill>
                  <a:latin typeface="Inter"/>
                  <a:ea typeface="Inter"/>
                  <a:cs typeface="Inter"/>
                  <a:sym typeface="Inter"/>
                </a:rPr>
                <a:t>5 / 10</a:t>
              </a:r>
              <a:endParaRPr b="1" i="0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0"/>
          <p:cNvSpPr/>
          <p:nvPr/>
        </p:nvSpPr>
        <p:spPr>
          <a:xfrm>
            <a:off x="0" y="0"/>
            <a:ext cx="9144015" cy="28574"/>
          </a:xfrm>
          <a:prstGeom prst="rect">
            <a:avLst/>
          </a:prstGeom>
          <a:solidFill>
            <a:srgbClr val="16A08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476251" y="380990"/>
            <a:ext cx="8191514" cy="333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Setup: Três Estados, Padrões Urbanos Distintos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581026" y="1095347"/>
            <a:ext cx="809626" cy="2857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Estado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1533528" y="1095347"/>
            <a:ext cx="809626" cy="2857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Check-ins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2486029" y="1095347"/>
            <a:ext cx="619126" cy="2857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POIs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3248031" y="1095347"/>
            <a:ext cx="714376" cy="2857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Usuários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476251" y="1381091"/>
            <a:ext cx="3524256" cy="9525"/>
          </a:xfrm>
          <a:prstGeom prst="rect">
            <a:avLst/>
          </a:prstGeom>
          <a:solidFill>
            <a:srgbClr val="E6E8E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581026" y="1381090"/>
            <a:ext cx="809626" cy="3047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Florida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1533528" y="1381090"/>
            <a:ext cx="809626" cy="3047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990 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2486029" y="1381090"/>
            <a:ext cx="619126" cy="3047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65 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3248031" y="1381090"/>
            <a:ext cx="714376" cy="3047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20 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476251" y="1685883"/>
            <a:ext cx="3524256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476251" y="1685883"/>
            <a:ext cx="3524256" cy="30479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581026" y="1685883"/>
            <a:ext cx="809626" cy="304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California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1533528" y="1685883"/>
            <a:ext cx="809626" cy="304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2,5 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2486029" y="1685883"/>
            <a:ext cx="619126" cy="304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148 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3248031" y="1685883"/>
            <a:ext cx="714376" cy="304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36 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476251" y="1990676"/>
            <a:ext cx="3524256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581026" y="1990676"/>
            <a:ext cx="809626" cy="304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Texas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0"/>
          <p:cNvSpPr txBox="1"/>
          <p:nvPr/>
        </p:nvSpPr>
        <p:spPr>
          <a:xfrm>
            <a:off x="1533528" y="1990676"/>
            <a:ext cx="809626" cy="304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3,4 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2486029" y="1990676"/>
            <a:ext cx="619126" cy="304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135 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3248031" y="1990676"/>
            <a:ext cx="714376" cy="304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37 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476251" y="2295467"/>
            <a:ext cx="3524256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4381507" y="1095347"/>
            <a:ext cx="4286257" cy="2666933"/>
          </a:xfrm>
          <a:prstGeom prst="roundRect">
            <a:avLst>
              <a:gd fmla="val 3000" name="adj"/>
            </a:avLst>
          </a:prstGeom>
          <a:solidFill>
            <a:srgbClr val="F4F6F7"/>
          </a:solidFill>
          <a:ln cap="flat" cmpd="sng" w="12700">
            <a:solidFill>
              <a:srgbClr val="E6E8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nsidade_pois.png" id="282" name="Google Shape;2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5807" y="1643933"/>
            <a:ext cx="4057549" cy="1312593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0"/>
          <p:cNvSpPr txBox="1"/>
          <p:nvPr/>
        </p:nvSpPr>
        <p:spPr>
          <a:xfrm>
            <a:off x="4467232" y="3467013"/>
            <a:ext cx="4114807" cy="190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1" lang="en-GB" sz="6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Densidade de POIs Food (vermelho) e Shopping (laranja) nas sub-regiões mais densas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381000" y="4190895"/>
            <a:ext cx="8382014" cy="523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Dataset Gowalla [Cho et al., '11] · F1 médio por categoria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5-fold estratificado por categoria · 80/20 (por POI para classificação · janelas não-sobrepostas para next-POI)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7 categorias × 3 estados = </a:t>
            </a:r>
            <a:r>
              <a:rPr b="1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21 combinações por tarefa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5" name="Google Shape;285;p20"/>
          <p:cNvGrpSpPr/>
          <p:nvPr/>
        </p:nvGrpSpPr>
        <p:grpSpPr>
          <a:xfrm>
            <a:off x="0" y="4824283"/>
            <a:ext cx="9144000" cy="314096"/>
            <a:chOff x="0" y="4476750"/>
            <a:chExt cx="9144000" cy="381000"/>
          </a:xfrm>
        </p:grpSpPr>
        <p:sp>
          <p:nvSpPr>
            <p:cNvPr id="286" name="Google Shape;286;p20"/>
            <p:cNvSpPr/>
            <p:nvPr/>
          </p:nvSpPr>
          <p:spPr>
            <a:xfrm>
              <a:off x="0" y="4476750"/>
              <a:ext cx="9144000" cy="381000"/>
            </a:xfrm>
            <a:prstGeom prst="rect">
              <a:avLst/>
            </a:prstGeom>
            <a:solidFill>
              <a:srgbClr val="F4F6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0"/>
            <p:cNvSpPr/>
            <p:nvPr/>
          </p:nvSpPr>
          <p:spPr>
            <a:xfrm>
              <a:off x="0" y="4476750"/>
              <a:ext cx="9144000" cy="9600"/>
            </a:xfrm>
            <a:prstGeom prst="rect">
              <a:avLst/>
            </a:prstGeom>
            <a:solidFill>
              <a:srgbClr val="E6E8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8" name="Google Shape;288;p20"/>
          <p:cNvGrpSpPr/>
          <p:nvPr/>
        </p:nvGrpSpPr>
        <p:grpSpPr>
          <a:xfrm>
            <a:off x="424388" y="4927472"/>
            <a:ext cx="8283324" cy="107704"/>
            <a:chOff x="424387" y="5010300"/>
            <a:chExt cx="8283324" cy="107704"/>
          </a:xfrm>
        </p:grpSpPr>
        <p:sp>
          <p:nvSpPr>
            <p:cNvPr id="289" name="Google Shape;289;p20"/>
            <p:cNvSpPr txBox="1"/>
            <p:nvPr/>
          </p:nvSpPr>
          <p:spPr>
            <a:xfrm>
              <a:off x="424387" y="5010304"/>
              <a:ext cx="1295100" cy="10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GB" sz="700" u="none" cap="none" strike="noStrike">
                  <a:solidFill>
                    <a:srgbClr val="7F8C8D"/>
                  </a:solidFill>
                  <a:latin typeface="Inter"/>
                  <a:ea typeface="Inter"/>
                  <a:cs typeface="Inter"/>
                  <a:sym typeface="Inter"/>
                </a:rPr>
                <a:t>ST-MTLNet @ CoUrb 2026</a:t>
              </a:r>
              <a:endParaRPr b="0" i="0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90" name="Google Shape;290;p20"/>
            <p:cNvSpPr txBox="1"/>
            <p:nvPr/>
          </p:nvSpPr>
          <p:spPr>
            <a:xfrm>
              <a:off x="8461111" y="5010300"/>
              <a:ext cx="246600" cy="10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-GB" sz="700" u="none" cap="none" strike="noStrike">
                  <a:solidFill>
                    <a:srgbClr val="7F8C8D"/>
                  </a:solidFill>
                  <a:latin typeface="Inter"/>
                  <a:ea typeface="Inter"/>
                  <a:cs typeface="Inter"/>
                  <a:sym typeface="Inter"/>
                </a:rPr>
                <a:t>6 / 10</a:t>
              </a:r>
              <a:endParaRPr b="1" i="0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1"/>
          <p:cNvSpPr txBox="1"/>
          <p:nvPr/>
        </p:nvSpPr>
        <p:spPr>
          <a:xfrm>
            <a:off x="476251" y="380990"/>
            <a:ext cx="8191514" cy="333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Classificação de Categoria — 21 / 21 Vitórias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6" name="Google Shape;296;p21"/>
          <p:cNvGrpSpPr/>
          <p:nvPr/>
        </p:nvGrpSpPr>
        <p:grpSpPr>
          <a:xfrm>
            <a:off x="0" y="4824283"/>
            <a:ext cx="9144000" cy="314096"/>
            <a:chOff x="0" y="4476750"/>
            <a:chExt cx="9144000" cy="381000"/>
          </a:xfrm>
        </p:grpSpPr>
        <p:sp>
          <p:nvSpPr>
            <p:cNvPr id="297" name="Google Shape;297;p21"/>
            <p:cNvSpPr/>
            <p:nvPr/>
          </p:nvSpPr>
          <p:spPr>
            <a:xfrm>
              <a:off x="0" y="4476750"/>
              <a:ext cx="9144000" cy="381000"/>
            </a:xfrm>
            <a:prstGeom prst="rect">
              <a:avLst/>
            </a:prstGeom>
            <a:solidFill>
              <a:srgbClr val="F4F6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21"/>
            <p:cNvSpPr/>
            <p:nvPr/>
          </p:nvSpPr>
          <p:spPr>
            <a:xfrm>
              <a:off x="0" y="4476750"/>
              <a:ext cx="9144000" cy="9600"/>
            </a:xfrm>
            <a:prstGeom prst="rect">
              <a:avLst/>
            </a:prstGeom>
            <a:solidFill>
              <a:srgbClr val="E6E8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9" name="Google Shape;299;p21"/>
          <p:cNvGrpSpPr/>
          <p:nvPr/>
        </p:nvGrpSpPr>
        <p:grpSpPr>
          <a:xfrm>
            <a:off x="424388" y="4927472"/>
            <a:ext cx="8283324" cy="107704"/>
            <a:chOff x="424387" y="5010300"/>
            <a:chExt cx="8283324" cy="107704"/>
          </a:xfrm>
        </p:grpSpPr>
        <p:sp>
          <p:nvSpPr>
            <p:cNvPr id="300" name="Google Shape;300;p21"/>
            <p:cNvSpPr txBox="1"/>
            <p:nvPr/>
          </p:nvSpPr>
          <p:spPr>
            <a:xfrm>
              <a:off x="424387" y="5010304"/>
              <a:ext cx="1295100" cy="10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GB" sz="700" u="none" cap="none" strike="noStrike">
                  <a:solidFill>
                    <a:srgbClr val="7F8C8D"/>
                  </a:solidFill>
                  <a:latin typeface="Inter"/>
                  <a:ea typeface="Inter"/>
                  <a:cs typeface="Inter"/>
                  <a:sym typeface="Inter"/>
                </a:rPr>
                <a:t>ST-MTLNet @ CoUrb 2026</a:t>
              </a:r>
              <a:endParaRPr b="0" i="0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1" name="Google Shape;301;p21"/>
            <p:cNvSpPr txBox="1"/>
            <p:nvPr/>
          </p:nvSpPr>
          <p:spPr>
            <a:xfrm>
              <a:off x="8461111" y="5010300"/>
              <a:ext cx="246600" cy="10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-GB" sz="700" u="none" cap="none" strike="noStrike">
                  <a:solidFill>
                    <a:srgbClr val="7F8C8D"/>
                  </a:solidFill>
                  <a:latin typeface="Inter"/>
                  <a:ea typeface="Inter"/>
                  <a:cs typeface="Inter"/>
                  <a:sym typeface="Inter"/>
                </a:rPr>
                <a:t>7 / 10</a:t>
              </a:r>
              <a:endParaRPr b="1" i="0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02" name="Google Shape;302;p21"/>
          <p:cNvSpPr txBox="1"/>
          <p:nvPr/>
        </p:nvSpPr>
        <p:spPr>
          <a:xfrm>
            <a:off x="476250" y="1003300"/>
            <a:ext cx="2667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200" u="none" cap="none" strike="noStrike">
                <a:solidFill>
                  <a:srgbClr val="E67E22"/>
                </a:solidFill>
                <a:latin typeface="Inter"/>
                <a:ea typeface="Inter"/>
                <a:cs typeface="Inter"/>
                <a:sym typeface="Inter"/>
              </a:rPr>
              <a:t>≈ +21 pp F1</a:t>
            </a:r>
            <a:endParaRPr/>
          </a:p>
        </p:txBody>
      </p:sp>
      <p:sp>
        <p:nvSpPr>
          <p:cNvPr id="303" name="Google Shape;303;p21"/>
          <p:cNvSpPr txBox="1"/>
          <p:nvPr/>
        </p:nvSpPr>
        <p:spPr>
          <a:xfrm>
            <a:off x="476250" y="1371600"/>
            <a:ext cx="2667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21 / 21 vitórias</a:t>
            </a:r>
            <a:endParaRPr/>
          </a:p>
        </p:txBody>
      </p:sp>
      <p:sp>
        <p:nvSpPr>
          <p:cNvPr id="304" name="Google Shape;304;p21"/>
          <p:cNvSpPr txBox="1"/>
          <p:nvPr/>
        </p:nvSpPr>
        <p:spPr>
          <a:xfrm>
            <a:off x="476250" y="1587500"/>
            <a:ext cx="2667000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vs. baseline MTLNet · DGI (todas as 21)</a:t>
            </a:r>
            <a:endParaRPr/>
          </a:p>
        </p:txBody>
      </p:sp>
      <p:sp>
        <p:nvSpPr>
          <p:cNvPr id="305" name="Google Shape;305;p21"/>
          <p:cNvSpPr txBox="1"/>
          <p:nvPr/>
        </p:nvSpPr>
        <p:spPr>
          <a:xfrm>
            <a:off x="476250" y="1828800"/>
            <a:ext cx="2667000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FL +20,5 · CA +22,2 · TX +22,6</a:t>
            </a:r>
            <a:endParaRPr/>
          </a:p>
        </p:txBody>
      </p:sp>
      <p:sp>
        <p:nvSpPr>
          <p:cNvPr id="306" name="Google Shape;306;p21"/>
          <p:cNvSpPr txBox="1"/>
          <p:nvPr/>
        </p:nvSpPr>
        <p:spPr>
          <a:xfrm>
            <a:off x="476250" y="2019300"/>
            <a:ext cx="2667000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variante por variante: +18 a +24 pp</a:t>
            </a:r>
            <a:endParaRPr/>
          </a:p>
        </p:txBody>
      </p:sp>
      <p:sp>
        <p:nvSpPr>
          <p:cNvPr id="307" name="Google Shape;307;p21"/>
          <p:cNvSpPr txBox="1"/>
          <p:nvPr/>
        </p:nvSpPr>
        <p:spPr>
          <a:xfrm>
            <a:off x="476250" y="2374900"/>
            <a:ext cx="2667000" cy="10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Ambos os encoders espaciais superam o DGI nas 21 combinações; </a:t>
            </a:r>
            <a:r>
              <a:rPr b="1" i="0" lang="en-GB" sz="11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SIREN e Sphere2Vec-M empatam tecnicamente</a:t>
            </a:r>
            <a:r>
              <a:rPr b="0" i="0" lang="en-GB" sz="11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2B2B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Território decide por margem pequena: SIREN em FL/CA, Sphere2Vec-M em TX.</a:t>
            </a:r>
            <a:endParaRPr/>
          </a:p>
        </p:txBody>
      </p:sp>
      <p:pic>
        <p:nvPicPr>
          <p:cNvPr descr="_cat_dumbbell3.png" id="308" name="Google Shape;3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1000" y="1301750"/>
            <a:ext cx="5842000" cy="1845024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1"/>
          <p:cNvSpPr txBox="1"/>
          <p:nvPr/>
        </p:nvSpPr>
        <p:spPr>
          <a:xfrm>
            <a:off x="2921000" y="3299174"/>
            <a:ext cx="584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Médias de F1 sobre as 7 categorias, por estado. </a:t>
            </a:r>
            <a:r>
              <a:rPr b="0" i="1" lang="en-GB" sz="10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Tabela completa por categoria (21 linhas) no apêndice A1.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2"/>
          <p:cNvSpPr txBox="1"/>
          <p:nvPr/>
        </p:nvSpPr>
        <p:spPr>
          <a:xfrm>
            <a:off x="476251" y="380990"/>
            <a:ext cx="8191514" cy="333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Predição do Próximo POI — 15 / 21 Vitórias + 1 Empate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5" name="Google Shape;315;p22"/>
          <p:cNvGrpSpPr/>
          <p:nvPr/>
        </p:nvGrpSpPr>
        <p:grpSpPr>
          <a:xfrm>
            <a:off x="0" y="4824283"/>
            <a:ext cx="9144000" cy="314096"/>
            <a:chOff x="0" y="4476750"/>
            <a:chExt cx="9144000" cy="381000"/>
          </a:xfrm>
        </p:grpSpPr>
        <p:sp>
          <p:nvSpPr>
            <p:cNvPr id="316" name="Google Shape;316;p22"/>
            <p:cNvSpPr/>
            <p:nvPr/>
          </p:nvSpPr>
          <p:spPr>
            <a:xfrm>
              <a:off x="0" y="4476750"/>
              <a:ext cx="9144000" cy="381000"/>
            </a:xfrm>
            <a:prstGeom prst="rect">
              <a:avLst/>
            </a:prstGeom>
            <a:solidFill>
              <a:srgbClr val="F4F6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2"/>
            <p:cNvSpPr/>
            <p:nvPr/>
          </p:nvSpPr>
          <p:spPr>
            <a:xfrm>
              <a:off x="0" y="4476750"/>
              <a:ext cx="9144000" cy="9600"/>
            </a:xfrm>
            <a:prstGeom prst="rect">
              <a:avLst/>
            </a:prstGeom>
            <a:solidFill>
              <a:srgbClr val="E6E8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8" name="Google Shape;318;p22"/>
          <p:cNvGrpSpPr/>
          <p:nvPr/>
        </p:nvGrpSpPr>
        <p:grpSpPr>
          <a:xfrm>
            <a:off x="424388" y="4927472"/>
            <a:ext cx="8283324" cy="107704"/>
            <a:chOff x="424387" y="5010300"/>
            <a:chExt cx="8283324" cy="107704"/>
          </a:xfrm>
        </p:grpSpPr>
        <p:sp>
          <p:nvSpPr>
            <p:cNvPr id="319" name="Google Shape;319;p22"/>
            <p:cNvSpPr txBox="1"/>
            <p:nvPr/>
          </p:nvSpPr>
          <p:spPr>
            <a:xfrm>
              <a:off x="424387" y="5010304"/>
              <a:ext cx="1295100" cy="10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GB" sz="700" u="none" cap="none" strike="noStrike">
                  <a:solidFill>
                    <a:srgbClr val="7F8C8D"/>
                  </a:solidFill>
                  <a:latin typeface="Inter"/>
                  <a:ea typeface="Inter"/>
                  <a:cs typeface="Inter"/>
                  <a:sym typeface="Inter"/>
                </a:rPr>
                <a:t>ST-MTLNet @ CoUrb 2026</a:t>
              </a:r>
              <a:endParaRPr b="0" i="0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0" name="Google Shape;320;p22"/>
            <p:cNvSpPr txBox="1"/>
            <p:nvPr/>
          </p:nvSpPr>
          <p:spPr>
            <a:xfrm>
              <a:off x="8461111" y="5010300"/>
              <a:ext cx="246600" cy="10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-GB" sz="700" u="none" cap="none" strike="noStrike">
                  <a:solidFill>
                    <a:srgbClr val="7F8C8D"/>
                  </a:solidFill>
                  <a:latin typeface="Inter"/>
                  <a:ea typeface="Inter"/>
                  <a:cs typeface="Inter"/>
                  <a:sym typeface="Inter"/>
                </a:rPr>
                <a:t>8 / 10</a:t>
              </a:r>
              <a:endParaRPr b="1" i="0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21" name="Google Shape;321;p22"/>
          <p:cNvSpPr txBox="1"/>
          <p:nvPr/>
        </p:nvSpPr>
        <p:spPr>
          <a:xfrm>
            <a:off x="476250" y="939800"/>
            <a:ext cx="254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400" u="none" cap="none" strike="noStrike">
                <a:solidFill>
                  <a:srgbClr val="E67E22"/>
                </a:solidFill>
                <a:latin typeface="Inter"/>
                <a:ea typeface="Inter"/>
                <a:cs typeface="Inter"/>
                <a:sym typeface="Inter"/>
              </a:rPr>
              <a:t>~72%</a:t>
            </a:r>
            <a:endParaRPr/>
          </a:p>
        </p:txBody>
      </p:sp>
      <p:sp>
        <p:nvSpPr>
          <p:cNvPr id="322" name="Google Shape;322;p22"/>
          <p:cNvSpPr txBox="1"/>
          <p:nvPr/>
        </p:nvSpPr>
        <p:spPr>
          <a:xfrm>
            <a:off x="476250" y="13589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15 vitórias · 1 empate · 5 derrotas</a:t>
            </a:r>
            <a:endParaRPr/>
          </a:p>
        </p:txBody>
      </p:sp>
      <p:sp>
        <p:nvSpPr>
          <p:cNvPr id="323" name="Google Shape;323;p22"/>
          <p:cNvSpPr txBox="1"/>
          <p:nvPr/>
        </p:nvSpPr>
        <p:spPr>
          <a:xfrm>
            <a:off x="476250" y="1549400"/>
            <a:ext cx="3810000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vs. baseline DGI · 21 combinações</a:t>
            </a:r>
            <a:endParaRPr/>
          </a:p>
        </p:txBody>
      </p:sp>
      <p:sp>
        <p:nvSpPr>
          <p:cNvPr id="324" name="Google Shape;324;p22"/>
          <p:cNvSpPr txBox="1"/>
          <p:nvPr/>
        </p:nvSpPr>
        <p:spPr>
          <a:xfrm>
            <a:off x="476250" y="1739900"/>
            <a:ext cx="38100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Δ médio por estado (pp):</a:t>
            </a:r>
            <a:endParaRPr/>
          </a:p>
        </p:txBody>
      </p:sp>
      <p:sp>
        <p:nvSpPr>
          <p:cNvPr id="325" name="Google Shape;325;p22"/>
          <p:cNvSpPr txBox="1"/>
          <p:nvPr/>
        </p:nvSpPr>
        <p:spPr>
          <a:xfrm>
            <a:off x="476250" y="18669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FL +1,7 · CA +2,0 · TX +5,1</a:t>
            </a:r>
            <a:endParaRPr/>
          </a:p>
        </p:txBody>
      </p:sp>
      <p:sp>
        <p:nvSpPr>
          <p:cNvPr id="326" name="Google Shape;326;p22"/>
          <p:cNvSpPr txBox="1"/>
          <p:nvPr/>
        </p:nvSpPr>
        <p:spPr>
          <a:xfrm>
            <a:off x="476250" y="2070100"/>
            <a:ext cx="38100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a média esconde o placar por categoria (A2)</a:t>
            </a:r>
            <a:endParaRPr/>
          </a:p>
        </p:txBody>
      </p:sp>
      <p:sp>
        <p:nvSpPr>
          <p:cNvPr id="327" name="Google Shape;327;p22"/>
          <p:cNvSpPr txBox="1"/>
          <p:nvPr/>
        </p:nvSpPr>
        <p:spPr>
          <a:xfrm>
            <a:off x="476250" y="2349500"/>
            <a:ext cx="254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Cenário heterogêneo, mas favorável.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2B2B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Travel ilustra o limite: </a:t>
            </a:r>
            <a:r>
              <a:rPr b="1" i="0" lang="en-GB" sz="11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DGI vence em Florida e California</a:t>
            </a:r>
            <a:r>
              <a:rPr b="0" i="0" lang="en-GB" sz="11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 (trajetórias longas favorecem o grafo), mas </a:t>
            </a:r>
            <a:r>
              <a:rPr b="1" i="0" lang="en-GB" sz="11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ST-MTLNet vence em Texas</a:t>
            </a:r>
            <a:r>
              <a:rPr b="0" i="0" lang="en-GB" sz="11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. Transições locais favorecem encoders contínuos.</a:t>
            </a:r>
            <a:endParaRPr/>
          </a:p>
        </p:txBody>
      </p:sp>
      <p:pic>
        <p:nvPicPr>
          <p:cNvPr descr="_next_dumbbell3.png" id="328" name="Google Shape;32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50" y="1301750"/>
            <a:ext cx="5588000" cy="1763764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2"/>
          <p:cNvSpPr txBox="1"/>
          <p:nvPr/>
        </p:nvSpPr>
        <p:spPr>
          <a:xfrm>
            <a:off x="3143250" y="3217914"/>
            <a:ext cx="5588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Médias de F1 sobre as 7 categorias, por estado. </a:t>
            </a:r>
            <a:r>
              <a:rPr b="0" i="1" lang="en-GB" sz="10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Tabela completa por categoria (21 linhas) no apêndice A2.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3"/>
          <p:cNvSpPr/>
          <p:nvPr/>
        </p:nvSpPr>
        <p:spPr>
          <a:xfrm>
            <a:off x="0" y="0"/>
            <a:ext cx="9144015" cy="28574"/>
          </a:xfrm>
          <a:prstGeom prst="rect">
            <a:avLst/>
          </a:prstGeom>
          <a:solidFill>
            <a:srgbClr val="16A08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3"/>
          <p:cNvSpPr txBox="1"/>
          <p:nvPr/>
        </p:nvSpPr>
        <p:spPr>
          <a:xfrm>
            <a:off x="476251" y="380990"/>
            <a:ext cx="8191514" cy="333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O Que Aprendemos — e o Que Ainda Falta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3"/>
          <p:cNvSpPr/>
          <p:nvPr/>
        </p:nvSpPr>
        <p:spPr>
          <a:xfrm>
            <a:off x="476251" y="1047724"/>
            <a:ext cx="4000507" cy="2762181"/>
          </a:xfrm>
          <a:prstGeom prst="roundRect">
            <a:avLst>
              <a:gd fmla="val 3000" name="adj"/>
            </a:avLst>
          </a:prstGeom>
          <a:solidFill>
            <a:srgbClr val="ECF6F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3"/>
          <p:cNvSpPr/>
          <p:nvPr/>
        </p:nvSpPr>
        <p:spPr>
          <a:xfrm>
            <a:off x="4667257" y="1047724"/>
            <a:ext cx="4000507" cy="2762181"/>
          </a:xfrm>
          <a:prstGeom prst="roundRect">
            <a:avLst>
              <a:gd fmla="val 3000" name="adj"/>
            </a:avLst>
          </a:prstGeom>
          <a:solidFill>
            <a:srgbClr val="F0EC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3"/>
          <p:cNvSpPr txBox="1"/>
          <p:nvPr/>
        </p:nvSpPr>
        <p:spPr>
          <a:xfrm>
            <a:off x="628651" y="1200120"/>
            <a:ext cx="3714756" cy="171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📈 Insights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3"/>
          <p:cNvSpPr txBox="1"/>
          <p:nvPr/>
        </p:nvSpPr>
        <p:spPr>
          <a:xfrm>
            <a:off x="714376" y="1428714"/>
            <a:ext cx="3619506" cy="2285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Decompor a entrada por modalidade vence o monolito</a:t>
            </a: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 —  +21 pp F1 em categoria (21/21) e ~72% das combinações em next-POI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O ganho vem da decomposição, não do encoder espacial</a:t>
            </a: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 —  SIREN e Sphere2Vec-M empatam tecnicamente (~1 pp na média)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Território decide o melhor encoder espacial</a:t>
            </a: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 —  SIREN em FL/CA · Sphere2Vec-M em TX, por margem pequena</a:t>
            </a:r>
            <a:endParaRPr/>
          </a:p>
        </p:txBody>
      </p:sp>
      <p:sp>
        <p:nvSpPr>
          <p:cNvPr id="340" name="Google Shape;340;p23"/>
          <p:cNvSpPr txBox="1"/>
          <p:nvPr/>
        </p:nvSpPr>
        <p:spPr>
          <a:xfrm>
            <a:off x="4819658" y="1200120"/>
            <a:ext cx="3714756" cy="171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663399"/>
                </a:solidFill>
                <a:latin typeface="Inter"/>
                <a:ea typeface="Inter"/>
                <a:cs typeface="Inter"/>
                <a:sym typeface="Inter"/>
              </a:rPr>
              <a:t>🔭 Trabalhos futuros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3"/>
          <p:cNvSpPr txBox="1"/>
          <p:nvPr/>
        </p:nvSpPr>
        <p:spPr>
          <a:xfrm>
            <a:off x="4905383" y="1428714"/>
            <a:ext cx="3619506" cy="2285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Fusão híbrida grafo + contínua</a:t>
            </a: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 —  recuperar long-range / Travel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Ablação isolando cada encoder</a:t>
            </a: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 —  contribuição de espaço / tempo / categoria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Combinações além de concat</a:t>
            </a: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 —  gating, cross-attention, MoE / soft-sharing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Baselines modernos de next-POI</a:t>
            </a: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 —  LSTPM, GETNext, STAN, HMT-GRN</a:t>
            </a:r>
            <a:endParaRPr/>
          </a:p>
        </p:txBody>
      </p:sp>
      <p:sp>
        <p:nvSpPr>
          <p:cNvPr id="342" name="Google Shape;342;p23"/>
          <p:cNvSpPr txBox="1"/>
          <p:nvPr/>
        </p:nvSpPr>
        <p:spPr>
          <a:xfrm>
            <a:off x="381000" y="4190895"/>
            <a:ext cx="8382014" cy="285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Decompor a entrada por modalidade de sinal pode render mais que sofisticar o classificador central.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3" name="Google Shape;343;p23"/>
          <p:cNvGrpSpPr/>
          <p:nvPr/>
        </p:nvGrpSpPr>
        <p:grpSpPr>
          <a:xfrm>
            <a:off x="0" y="4824283"/>
            <a:ext cx="9144000" cy="314096"/>
            <a:chOff x="0" y="4476750"/>
            <a:chExt cx="9144000" cy="381000"/>
          </a:xfrm>
        </p:grpSpPr>
        <p:sp>
          <p:nvSpPr>
            <p:cNvPr id="344" name="Google Shape;344;p23"/>
            <p:cNvSpPr/>
            <p:nvPr/>
          </p:nvSpPr>
          <p:spPr>
            <a:xfrm>
              <a:off x="0" y="4476750"/>
              <a:ext cx="9144000" cy="381000"/>
            </a:xfrm>
            <a:prstGeom prst="rect">
              <a:avLst/>
            </a:prstGeom>
            <a:solidFill>
              <a:srgbClr val="F4F6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23"/>
            <p:cNvSpPr/>
            <p:nvPr/>
          </p:nvSpPr>
          <p:spPr>
            <a:xfrm>
              <a:off x="0" y="4476750"/>
              <a:ext cx="9144000" cy="9600"/>
            </a:xfrm>
            <a:prstGeom prst="rect">
              <a:avLst/>
            </a:prstGeom>
            <a:solidFill>
              <a:srgbClr val="E6E8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6" name="Google Shape;346;p23"/>
          <p:cNvGrpSpPr/>
          <p:nvPr/>
        </p:nvGrpSpPr>
        <p:grpSpPr>
          <a:xfrm>
            <a:off x="424388" y="4927472"/>
            <a:ext cx="8283324" cy="107704"/>
            <a:chOff x="424387" y="5010300"/>
            <a:chExt cx="8283324" cy="107704"/>
          </a:xfrm>
        </p:grpSpPr>
        <p:sp>
          <p:nvSpPr>
            <p:cNvPr id="347" name="Google Shape;347;p23"/>
            <p:cNvSpPr txBox="1"/>
            <p:nvPr/>
          </p:nvSpPr>
          <p:spPr>
            <a:xfrm>
              <a:off x="424387" y="5010304"/>
              <a:ext cx="1295100" cy="10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GB" sz="700" u="none" cap="none" strike="noStrike">
                  <a:solidFill>
                    <a:srgbClr val="7F8C8D"/>
                  </a:solidFill>
                  <a:latin typeface="Inter"/>
                  <a:ea typeface="Inter"/>
                  <a:cs typeface="Inter"/>
                  <a:sym typeface="Inter"/>
                </a:rPr>
                <a:t>ST-MTLNet @ CoUrb 2026</a:t>
              </a:r>
              <a:endParaRPr b="0" i="0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48" name="Google Shape;348;p23"/>
            <p:cNvSpPr txBox="1"/>
            <p:nvPr/>
          </p:nvSpPr>
          <p:spPr>
            <a:xfrm>
              <a:off x="8461111" y="5010300"/>
              <a:ext cx="246600" cy="10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-GB" sz="700" u="none" cap="none" strike="noStrike">
                  <a:solidFill>
                    <a:srgbClr val="7F8C8D"/>
                  </a:solidFill>
                  <a:latin typeface="Inter"/>
                  <a:ea typeface="Inter"/>
                  <a:cs typeface="Inter"/>
                  <a:sym typeface="Inter"/>
                </a:rPr>
                <a:t>9 / 10</a:t>
              </a:r>
              <a:endParaRPr b="1" i="0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4"/>
          <p:cNvSpPr/>
          <p:nvPr/>
        </p:nvSpPr>
        <p:spPr>
          <a:xfrm>
            <a:off x="0" y="0"/>
            <a:ext cx="9144015" cy="28574"/>
          </a:xfrm>
          <a:prstGeom prst="rect">
            <a:avLst/>
          </a:prstGeom>
          <a:solidFill>
            <a:srgbClr val="16A08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4"/>
          <p:cNvSpPr txBox="1"/>
          <p:nvPr/>
        </p:nvSpPr>
        <p:spPr>
          <a:xfrm>
            <a:off x="476251" y="380990"/>
            <a:ext cx="8191514" cy="333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Para Levar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4"/>
          <p:cNvSpPr/>
          <p:nvPr/>
        </p:nvSpPr>
        <p:spPr>
          <a:xfrm>
            <a:off x="476251" y="1047724"/>
            <a:ext cx="2590805" cy="1333467"/>
          </a:xfrm>
          <a:prstGeom prst="roundRect">
            <a:avLst>
              <a:gd fmla="val 5000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4"/>
          <p:cNvSpPr/>
          <p:nvPr/>
        </p:nvSpPr>
        <p:spPr>
          <a:xfrm>
            <a:off x="476251" y="1047724"/>
            <a:ext cx="2590805" cy="28574"/>
          </a:xfrm>
          <a:prstGeom prst="rect">
            <a:avLst/>
          </a:prstGeom>
          <a:solidFill>
            <a:srgbClr val="16A08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4"/>
          <p:cNvSpPr txBox="1"/>
          <p:nvPr/>
        </p:nvSpPr>
        <p:spPr>
          <a:xfrm>
            <a:off x="628651" y="1190595"/>
            <a:ext cx="2286004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4"/>
          <p:cNvSpPr txBox="1"/>
          <p:nvPr/>
        </p:nvSpPr>
        <p:spPr>
          <a:xfrm>
            <a:off x="628651" y="1619209"/>
            <a:ext cx="2286004" cy="714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Encoders </a:t>
            </a:r>
            <a:r>
              <a:rPr b="1" i="0" lang="en-GB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desacoplados</a:t>
            </a:r>
            <a:r>
              <a:rPr b="0" i="0" lang="en-GB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&gt; monolítico para tarefas com demandas distintas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4"/>
          <p:cNvSpPr/>
          <p:nvPr/>
        </p:nvSpPr>
        <p:spPr>
          <a:xfrm>
            <a:off x="3276606" y="1047724"/>
            <a:ext cx="2590805" cy="1333467"/>
          </a:xfrm>
          <a:prstGeom prst="roundRect">
            <a:avLst>
              <a:gd fmla="val 5000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4"/>
          <p:cNvSpPr/>
          <p:nvPr/>
        </p:nvSpPr>
        <p:spPr>
          <a:xfrm>
            <a:off x="3276606" y="1047724"/>
            <a:ext cx="2590805" cy="2857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4"/>
          <p:cNvSpPr txBox="1"/>
          <p:nvPr/>
        </p:nvSpPr>
        <p:spPr>
          <a:xfrm>
            <a:off x="3429006" y="1190595"/>
            <a:ext cx="2286004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E67E22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4"/>
          <p:cNvSpPr txBox="1"/>
          <p:nvPr/>
        </p:nvSpPr>
        <p:spPr>
          <a:xfrm>
            <a:off x="3429006" y="1619209"/>
            <a:ext cx="2286004" cy="714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~+21 pp F1</a:t>
            </a:r>
            <a:r>
              <a:rPr b="0" i="0" lang="en-GB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em categoria · </a:t>
            </a:r>
            <a:r>
              <a:rPr b="1" i="0" lang="en-GB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~72% vitórias</a:t>
            </a:r>
            <a:r>
              <a:rPr b="0" i="0" lang="en-GB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em next-POI · </a:t>
            </a:r>
            <a:r>
              <a:rPr b="1" i="0" lang="en-GB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21/21</a:t>
            </a:r>
            <a:r>
              <a:rPr b="0" i="0" lang="en-GB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combinações em categoria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4"/>
          <p:cNvSpPr/>
          <p:nvPr/>
        </p:nvSpPr>
        <p:spPr>
          <a:xfrm>
            <a:off x="6076960" y="1047724"/>
            <a:ext cx="2590805" cy="1333467"/>
          </a:xfrm>
          <a:prstGeom prst="roundRect">
            <a:avLst>
              <a:gd fmla="val 5000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4"/>
          <p:cNvSpPr/>
          <p:nvPr/>
        </p:nvSpPr>
        <p:spPr>
          <a:xfrm>
            <a:off x="6076960" y="1047724"/>
            <a:ext cx="2590805" cy="28574"/>
          </a:xfrm>
          <a:prstGeom prst="rect">
            <a:avLst/>
          </a:prstGeom>
          <a:solidFill>
            <a:srgbClr val="66339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4"/>
          <p:cNvSpPr txBox="1"/>
          <p:nvPr/>
        </p:nvSpPr>
        <p:spPr>
          <a:xfrm>
            <a:off x="6229360" y="1190595"/>
            <a:ext cx="2286004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663399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4"/>
          <p:cNvSpPr txBox="1"/>
          <p:nvPr/>
        </p:nvSpPr>
        <p:spPr>
          <a:xfrm>
            <a:off x="6229360" y="1619209"/>
            <a:ext cx="2286004" cy="714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Não há encoder espacial universal — </a:t>
            </a:r>
            <a:r>
              <a:rPr b="1" i="0" lang="en-GB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território importa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4"/>
          <p:cNvSpPr txBox="1"/>
          <p:nvPr/>
        </p:nvSpPr>
        <p:spPr>
          <a:xfrm>
            <a:off x="0" y="2666933"/>
            <a:ext cx="9144015" cy="428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💻 Código: github.com/TarikSalles/Spatial_Embeddings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✉️ Contato: vitor.oliveira@ufv.br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4"/>
          <p:cNvSpPr txBox="1"/>
          <p:nvPr/>
        </p:nvSpPr>
        <p:spPr>
          <a:xfrm>
            <a:off x="381000" y="3619409"/>
            <a:ext cx="8382014" cy="285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Obrigado — perguntas?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9" name="Google Shape;369;p24"/>
          <p:cNvGrpSpPr/>
          <p:nvPr/>
        </p:nvGrpSpPr>
        <p:grpSpPr>
          <a:xfrm>
            <a:off x="0" y="4824283"/>
            <a:ext cx="9144000" cy="314096"/>
            <a:chOff x="0" y="4476750"/>
            <a:chExt cx="9144000" cy="381000"/>
          </a:xfrm>
        </p:grpSpPr>
        <p:sp>
          <p:nvSpPr>
            <p:cNvPr id="370" name="Google Shape;370;p24"/>
            <p:cNvSpPr/>
            <p:nvPr/>
          </p:nvSpPr>
          <p:spPr>
            <a:xfrm>
              <a:off x="0" y="4476750"/>
              <a:ext cx="9144000" cy="381000"/>
            </a:xfrm>
            <a:prstGeom prst="rect">
              <a:avLst/>
            </a:prstGeom>
            <a:solidFill>
              <a:srgbClr val="F4F6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24"/>
            <p:cNvSpPr/>
            <p:nvPr/>
          </p:nvSpPr>
          <p:spPr>
            <a:xfrm>
              <a:off x="0" y="4476750"/>
              <a:ext cx="9144000" cy="9600"/>
            </a:xfrm>
            <a:prstGeom prst="rect">
              <a:avLst/>
            </a:prstGeom>
            <a:solidFill>
              <a:srgbClr val="E6E8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2" name="Google Shape;372;p24"/>
          <p:cNvGrpSpPr/>
          <p:nvPr/>
        </p:nvGrpSpPr>
        <p:grpSpPr>
          <a:xfrm>
            <a:off x="424388" y="4927475"/>
            <a:ext cx="8283363" cy="107701"/>
            <a:chOff x="424387" y="5010303"/>
            <a:chExt cx="8283363" cy="107701"/>
          </a:xfrm>
        </p:grpSpPr>
        <p:sp>
          <p:nvSpPr>
            <p:cNvPr id="373" name="Google Shape;373;p24"/>
            <p:cNvSpPr txBox="1"/>
            <p:nvPr/>
          </p:nvSpPr>
          <p:spPr>
            <a:xfrm>
              <a:off x="424387" y="5010304"/>
              <a:ext cx="1295100" cy="10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GB" sz="700" u="none" cap="none" strike="noStrike">
                  <a:solidFill>
                    <a:srgbClr val="7F8C8D"/>
                  </a:solidFill>
                  <a:latin typeface="Inter"/>
                  <a:ea typeface="Inter"/>
                  <a:cs typeface="Inter"/>
                  <a:sym typeface="Inter"/>
                </a:rPr>
                <a:t>ST-MTLNet @ CoUrb 2026</a:t>
              </a:r>
              <a:endParaRPr b="0" i="0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4" name="Google Shape;374;p24"/>
            <p:cNvSpPr txBox="1"/>
            <p:nvPr/>
          </p:nvSpPr>
          <p:spPr>
            <a:xfrm>
              <a:off x="8348950" y="5010303"/>
              <a:ext cx="358800" cy="10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-GB" sz="700" u="none" cap="none" strike="noStrike">
                  <a:solidFill>
                    <a:srgbClr val="7F8C8D"/>
                  </a:solidFill>
                  <a:latin typeface="Inter"/>
                  <a:ea typeface="Inter"/>
                  <a:cs typeface="Inter"/>
                  <a:sym typeface="Inter"/>
                </a:rPr>
                <a:t>10 / 10</a:t>
              </a:r>
              <a:endParaRPr b="1" i="0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5"/>
          <p:cNvSpPr/>
          <p:nvPr/>
        </p:nvSpPr>
        <p:spPr>
          <a:xfrm>
            <a:off x="0" y="0"/>
            <a:ext cx="9144015" cy="5143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5"/>
          <p:cNvSpPr/>
          <p:nvPr/>
        </p:nvSpPr>
        <p:spPr>
          <a:xfrm>
            <a:off x="0" y="0"/>
            <a:ext cx="9144015" cy="28574"/>
          </a:xfrm>
          <a:prstGeom prst="rect">
            <a:avLst/>
          </a:prstGeom>
          <a:solidFill>
            <a:srgbClr val="66339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5"/>
          <p:cNvSpPr txBox="1"/>
          <p:nvPr/>
        </p:nvSpPr>
        <p:spPr>
          <a:xfrm>
            <a:off x="381000" y="114297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663399"/>
                </a:solidFill>
                <a:latin typeface="Inter"/>
                <a:ea typeface="Inter"/>
                <a:cs typeface="Inter"/>
                <a:sym typeface="Inter"/>
              </a:rPr>
              <a:t>BACKUP A1 / A13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5"/>
          <p:cNvSpPr txBox="1"/>
          <p:nvPr/>
        </p:nvSpPr>
        <p:spPr>
          <a:xfrm>
            <a:off x="476251" y="380990"/>
            <a:ext cx="8191514" cy="333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Tabela completa — F1 Categoria</a:t>
            </a:r>
            <a:r>
              <a:rPr b="0" i="0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  (21 linhas)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5"/>
          <p:cNvSpPr txBox="1"/>
          <p:nvPr/>
        </p:nvSpPr>
        <p:spPr>
          <a:xfrm>
            <a:off x="476251" y="1047724"/>
            <a:ext cx="20002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Estado · Categoria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5"/>
          <p:cNvSpPr txBox="1"/>
          <p:nvPr/>
        </p:nvSpPr>
        <p:spPr>
          <a:xfrm>
            <a:off x="2476504" y="1047724"/>
            <a:ext cx="1428752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Baseline (DGI)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5"/>
          <p:cNvSpPr txBox="1"/>
          <p:nvPr/>
        </p:nvSpPr>
        <p:spPr>
          <a:xfrm>
            <a:off x="3905257" y="1047724"/>
            <a:ext cx="17145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ST-MTLNet · SIREN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5"/>
          <p:cNvSpPr txBox="1"/>
          <p:nvPr/>
        </p:nvSpPr>
        <p:spPr>
          <a:xfrm>
            <a:off x="5619760" y="1047724"/>
            <a:ext cx="20955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ST-MTLNet · Sphere2Vec-M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5"/>
          <p:cNvSpPr txBox="1"/>
          <p:nvPr/>
        </p:nvSpPr>
        <p:spPr>
          <a:xfrm>
            <a:off x="7715263" y="1047724"/>
            <a:ext cx="952501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Δ (melhor)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5"/>
          <p:cNvSpPr/>
          <p:nvPr/>
        </p:nvSpPr>
        <p:spPr>
          <a:xfrm>
            <a:off x="476251" y="1228694"/>
            <a:ext cx="8191514" cy="9525"/>
          </a:xfrm>
          <a:prstGeom prst="rect">
            <a:avLst/>
          </a:prstGeom>
          <a:solidFill>
            <a:srgbClr val="E6E8E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5"/>
          <p:cNvSpPr txBox="1"/>
          <p:nvPr/>
        </p:nvSpPr>
        <p:spPr>
          <a:xfrm>
            <a:off x="476251" y="1228694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FL · Food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5"/>
          <p:cNvSpPr txBox="1"/>
          <p:nvPr/>
        </p:nvSpPr>
        <p:spPr>
          <a:xfrm>
            <a:off x="2476504" y="1228694"/>
            <a:ext cx="1390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55,47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5"/>
          <p:cNvSpPr/>
          <p:nvPr/>
        </p:nvSpPr>
        <p:spPr>
          <a:xfrm>
            <a:off x="3905257" y="1228694"/>
            <a:ext cx="171450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5"/>
          <p:cNvSpPr txBox="1"/>
          <p:nvPr/>
        </p:nvSpPr>
        <p:spPr>
          <a:xfrm>
            <a:off x="3905257" y="1228694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73,22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5"/>
          <p:cNvSpPr txBox="1"/>
          <p:nvPr/>
        </p:nvSpPr>
        <p:spPr>
          <a:xfrm>
            <a:off x="5619760" y="1228694"/>
            <a:ext cx="2057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72,10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5"/>
          <p:cNvSpPr txBox="1"/>
          <p:nvPr/>
        </p:nvSpPr>
        <p:spPr>
          <a:xfrm>
            <a:off x="7715263" y="1228694"/>
            <a:ext cx="914402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+17,75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5"/>
          <p:cNvSpPr/>
          <p:nvPr/>
        </p:nvSpPr>
        <p:spPr>
          <a:xfrm>
            <a:off x="476251" y="1409665"/>
            <a:ext cx="8191514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5"/>
          <p:cNvSpPr txBox="1"/>
          <p:nvPr/>
        </p:nvSpPr>
        <p:spPr>
          <a:xfrm>
            <a:off x="476251" y="1409665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FL · Shopping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5"/>
          <p:cNvSpPr txBox="1"/>
          <p:nvPr/>
        </p:nvSpPr>
        <p:spPr>
          <a:xfrm>
            <a:off x="2476504" y="1409665"/>
            <a:ext cx="1390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62,96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5"/>
          <p:cNvSpPr/>
          <p:nvPr/>
        </p:nvSpPr>
        <p:spPr>
          <a:xfrm>
            <a:off x="3905257" y="1409665"/>
            <a:ext cx="171450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5"/>
          <p:cNvSpPr txBox="1"/>
          <p:nvPr/>
        </p:nvSpPr>
        <p:spPr>
          <a:xfrm>
            <a:off x="3905257" y="1409665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77,48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5"/>
          <p:cNvSpPr txBox="1"/>
          <p:nvPr/>
        </p:nvSpPr>
        <p:spPr>
          <a:xfrm>
            <a:off x="5619760" y="1409665"/>
            <a:ext cx="2057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76,30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5"/>
          <p:cNvSpPr txBox="1"/>
          <p:nvPr/>
        </p:nvSpPr>
        <p:spPr>
          <a:xfrm>
            <a:off x="7715263" y="1409665"/>
            <a:ext cx="914402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+14,52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5"/>
          <p:cNvSpPr/>
          <p:nvPr/>
        </p:nvSpPr>
        <p:spPr>
          <a:xfrm>
            <a:off x="476251" y="1590635"/>
            <a:ext cx="8191514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5"/>
          <p:cNvSpPr txBox="1"/>
          <p:nvPr/>
        </p:nvSpPr>
        <p:spPr>
          <a:xfrm>
            <a:off x="476251" y="1590635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FL · Nightlife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5"/>
          <p:cNvSpPr txBox="1"/>
          <p:nvPr/>
        </p:nvSpPr>
        <p:spPr>
          <a:xfrm>
            <a:off x="2476504" y="1590635"/>
            <a:ext cx="1390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32,59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5"/>
          <p:cNvSpPr/>
          <p:nvPr/>
        </p:nvSpPr>
        <p:spPr>
          <a:xfrm>
            <a:off x="3905257" y="1590635"/>
            <a:ext cx="171450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5"/>
          <p:cNvSpPr txBox="1"/>
          <p:nvPr/>
        </p:nvSpPr>
        <p:spPr>
          <a:xfrm>
            <a:off x="3905257" y="1590635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62,60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5"/>
          <p:cNvSpPr txBox="1"/>
          <p:nvPr/>
        </p:nvSpPr>
        <p:spPr>
          <a:xfrm>
            <a:off x="5619760" y="1590635"/>
            <a:ext cx="2057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60,11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5"/>
          <p:cNvSpPr txBox="1"/>
          <p:nvPr/>
        </p:nvSpPr>
        <p:spPr>
          <a:xfrm>
            <a:off x="7715263" y="1590635"/>
            <a:ext cx="914402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+30,01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5"/>
          <p:cNvSpPr/>
          <p:nvPr/>
        </p:nvSpPr>
        <p:spPr>
          <a:xfrm>
            <a:off x="476251" y="1771606"/>
            <a:ext cx="8191514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5"/>
          <p:cNvSpPr txBox="1"/>
          <p:nvPr/>
        </p:nvSpPr>
        <p:spPr>
          <a:xfrm>
            <a:off x="476251" y="1771606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FL · Travel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5"/>
          <p:cNvSpPr txBox="1"/>
          <p:nvPr/>
        </p:nvSpPr>
        <p:spPr>
          <a:xfrm>
            <a:off x="2476504" y="1771606"/>
            <a:ext cx="1390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45,49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5"/>
          <p:cNvSpPr/>
          <p:nvPr/>
        </p:nvSpPr>
        <p:spPr>
          <a:xfrm>
            <a:off x="3905257" y="1771606"/>
            <a:ext cx="171450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5"/>
          <p:cNvSpPr txBox="1"/>
          <p:nvPr/>
        </p:nvSpPr>
        <p:spPr>
          <a:xfrm>
            <a:off x="3905257" y="1771606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64,89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5"/>
          <p:cNvSpPr txBox="1"/>
          <p:nvPr/>
        </p:nvSpPr>
        <p:spPr>
          <a:xfrm>
            <a:off x="5619760" y="1771606"/>
            <a:ext cx="2057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63,40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5"/>
          <p:cNvSpPr txBox="1"/>
          <p:nvPr/>
        </p:nvSpPr>
        <p:spPr>
          <a:xfrm>
            <a:off x="7715263" y="1771606"/>
            <a:ext cx="914402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+19,40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5"/>
          <p:cNvSpPr/>
          <p:nvPr/>
        </p:nvSpPr>
        <p:spPr>
          <a:xfrm>
            <a:off x="476251" y="1952576"/>
            <a:ext cx="8191514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5"/>
          <p:cNvSpPr txBox="1"/>
          <p:nvPr/>
        </p:nvSpPr>
        <p:spPr>
          <a:xfrm>
            <a:off x="476251" y="1952576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FL · Outdoors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5"/>
          <p:cNvSpPr txBox="1"/>
          <p:nvPr/>
        </p:nvSpPr>
        <p:spPr>
          <a:xfrm>
            <a:off x="2476504" y="1952576"/>
            <a:ext cx="1390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49,12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5"/>
          <p:cNvSpPr/>
          <p:nvPr/>
        </p:nvSpPr>
        <p:spPr>
          <a:xfrm>
            <a:off x="3905257" y="1952576"/>
            <a:ext cx="171450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5"/>
          <p:cNvSpPr txBox="1"/>
          <p:nvPr/>
        </p:nvSpPr>
        <p:spPr>
          <a:xfrm>
            <a:off x="3905257" y="1952576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69,80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5"/>
          <p:cNvSpPr txBox="1"/>
          <p:nvPr/>
        </p:nvSpPr>
        <p:spPr>
          <a:xfrm>
            <a:off x="5619760" y="1952576"/>
            <a:ext cx="2057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68,02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5"/>
          <p:cNvSpPr txBox="1"/>
          <p:nvPr/>
        </p:nvSpPr>
        <p:spPr>
          <a:xfrm>
            <a:off x="7715263" y="1952576"/>
            <a:ext cx="914402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+20,68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5"/>
          <p:cNvSpPr/>
          <p:nvPr/>
        </p:nvSpPr>
        <p:spPr>
          <a:xfrm>
            <a:off x="476251" y="2133547"/>
            <a:ext cx="8191514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5"/>
          <p:cNvSpPr txBox="1"/>
          <p:nvPr/>
        </p:nvSpPr>
        <p:spPr>
          <a:xfrm>
            <a:off x="476251" y="2133547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FL · Community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5"/>
          <p:cNvSpPr txBox="1"/>
          <p:nvPr/>
        </p:nvSpPr>
        <p:spPr>
          <a:xfrm>
            <a:off x="2476504" y="2133547"/>
            <a:ext cx="1390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51,34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5"/>
          <p:cNvSpPr/>
          <p:nvPr/>
        </p:nvSpPr>
        <p:spPr>
          <a:xfrm>
            <a:off x="3905257" y="2133547"/>
            <a:ext cx="171450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5"/>
          <p:cNvSpPr txBox="1"/>
          <p:nvPr/>
        </p:nvSpPr>
        <p:spPr>
          <a:xfrm>
            <a:off x="3905257" y="2133547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71,55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5"/>
          <p:cNvSpPr txBox="1"/>
          <p:nvPr/>
        </p:nvSpPr>
        <p:spPr>
          <a:xfrm>
            <a:off x="5619760" y="2133547"/>
            <a:ext cx="2057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70,18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5"/>
          <p:cNvSpPr txBox="1"/>
          <p:nvPr/>
        </p:nvSpPr>
        <p:spPr>
          <a:xfrm>
            <a:off x="7715263" y="2133547"/>
            <a:ext cx="914402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+20,21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5"/>
          <p:cNvSpPr/>
          <p:nvPr/>
        </p:nvSpPr>
        <p:spPr>
          <a:xfrm>
            <a:off x="476251" y="2314517"/>
            <a:ext cx="8191514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5"/>
          <p:cNvSpPr txBox="1"/>
          <p:nvPr/>
        </p:nvSpPr>
        <p:spPr>
          <a:xfrm>
            <a:off x="476251" y="2314517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FL · Entertainment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5"/>
          <p:cNvSpPr txBox="1"/>
          <p:nvPr/>
        </p:nvSpPr>
        <p:spPr>
          <a:xfrm>
            <a:off x="2476504" y="2314517"/>
            <a:ext cx="1390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47,80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5"/>
          <p:cNvSpPr/>
          <p:nvPr/>
        </p:nvSpPr>
        <p:spPr>
          <a:xfrm>
            <a:off x="3905257" y="2314517"/>
            <a:ext cx="171450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5"/>
          <p:cNvSpPr txBox="1"/>
          <p:nvPr/>
        </p:nvSpPr>
        <p:spPr>
          <a:xfrm>
            <a:off x="3905257" y="2314517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68,40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5"/>
          <p:cNvSpPr txBox="1"/>
          <p:nvPr/>
        </p:nvSpPr>
        <p:spPr>
          <a:xfrm>
            <a:off x="5619760" y="2314517"/>
            <a:ext cx="2057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67,11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5"/>
          <p:cNvSpPr txBox="1"/>
          <p:nvPr/>
        </p:nvSpPr>
        <p:spPr>
          <a:xfrm>
            <a:off x="7715263" y="2314517"/>
            <a:ext cx="914402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+20,60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5"/>
          <p:cNvSpPr/>
          <p:nvPr/>
        </p:nvSpPr>
        <p:spPr>
          <a:xfrm>
            <a:off x="476251" y="2495488"/>
            <a:ext cx="8191514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5"/>
          <p:cNvSpPr txBox="1"/>
          <p:nvPr/>
        </p:nvSpPr>
        <p:spPr>
          <a:xfrm>
            <a:off x="476251" y="2495488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CA · Food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5"/>
          <p:cNvSpPr txBox="1"/>
          <p:nvPr/>
        </p:nvSpPr>
        <p:spPr>
          <a:xfrm>
            <a:off x="2476504" y="2495488"/>
            <a:ext cx="1390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60,68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5"/>
          <p:cNvSpPr/>
          <p:nvPr/>
        </p:nvSpPr>
        <p:spPr>
          <a:xfrm>
            <a:off x="3905257" y="2495488"/>
            <a:ext cx="171450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5"/>
          <p:cNvSpPr txBox="1"/>
          <p:nvPr/>
        </p:nvSpPr>
        <p:spPr>
          <a:xfrm>
            <a:off x="3905257" y="2495488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75,78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5"/>
          <p:cNvSpPr txBox="1"/>
          <p:nvPr/>
        </p:nvSpPr>
        <p:spPr>
          <a:xfrm>
            <a:off x="5619760" y="2495488"/>
            <a:ext cx="2057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74,52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5"/>
          <p:cNvSpPr txBox="1"/>
          <p:nvPr/>
        </p:nvSpPr>
        <p:spPr>
          <a:xfrm>
            <a:off x="7715263" y="2495488"/>
            <a:ext cx="914402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+15,10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5"/>
          <p:cNvSpPr/>
          <p:nvPr/>
        </p:nvSpPr>
        <p:spPr>
          <a:xfrm>
            <a:off x="476251" y="2676458"/>
            <a:ext cx="8191514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5"/>
          <p:cNvSpPr txBox="1"/>
          <p:nvPr/>
        </p:nvSpPr>
        <p:spPr>
          <a:xfrm>
            <a:off x="476251" y="2676458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CA · Shopping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5"/>
          <p:cNvSpPr txBox="1"/>
          <p:nvPr/>
        </p:nvSpPr>
        <p:spPr>
          <a:xfrm>
            <a:off x="2476504" y="2676458"/>
            <a:ext cx="1390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60,43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5"/>
          <p:cNvSpPr/>
          <p:nvPr/>
        </p:nvSpPr>
        <p:spPr>
          <a:xfrm>
            <a:off x="3905257" y="2676458"/>
            <a:ext cx="171450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5"/>
          <p:cNvSpPr txBox="1"/>
          <p:nvPr/>
        </p:nvSpPr>
        <p:spPr>
          <a:xfrm>
            <a:off x="3905257" y="2676458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77,00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5"/>
          <p:cNvSpPr txBox="1"/>
          <p:nvPr/>
        </p:nvSpPr>
        <p:spPr>
          <a:xfrm>
            <a:off x="5619760" y="2676458"/>
            <a:ext cx="2057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75,87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5"/>
          <p:cNvSpPr txBox="1"/>
          <p:nvPr/>
        </p:nvSpPr>
        <p:spPr>
          <a:xfrm>
            <a:off x="7715263" y="2676458"/>
            <a:ext cx="914402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+16,57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5"/>
          <p:cNvSpPr/>
          <p:nvPr/>
        </p:nvSpPr>
        <p:spPr>
          <a:xfrm>
            <a:off x="476251" y="2857429"/>
            <a:ext cx="8191514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5"/>
          <p:cNvSpPr txBox="1"/>
          <p:nvPr/>
        </p:nvSpPr>
        <p:spPr>
          <a:xfrm>
            <a:off x="476251" y="2857429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CA · Nightlife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5"/>
          <p:cNvSpPr txBox="1"/>
          <p:nvPr/>
        </p:nvSpPr>
        <p:spPr>
          <a:xfrm>
            <a:off x="2476504" y="2857429"/>
            <a:ext cx="1390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26,81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5"/>
          <p:cNvSpPr/>
          <p:nvPr/>
        </p:nvSpPr>
        <p:spPr>
          <a:xfrm>
            <a:off x="3905257" y="2857429"/>
            <a:ext cx="171450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5"/>
          <p:cNvSpPr txBox="1"/>
          <p:nvPr/>
        </p:nvSpPr>
        <p:spPr>
          <a:xfrm>
            <a:off x="3905257" y="2857429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60,78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5"/>
          <p:cNvSpPr txBox="1"/>
          <p:nvPr/>
        </p:nvSpPr>
        <p:spPr>
          <a:xfrm>
            <a:off x="5619760" y="2857429"/>
            <a:ext cx="2057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58,93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5"/>
          <p:cNvSpPr txBox="1"/>
          <p:nvPr/>
        </p:nvSpPr>
        <p:spPr>
          <a:xfrm>
            <a:off x="7715263" y="2857429"/>
            <a:ext cx="914402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+33,97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5"/>
          <p:cNvSpPr/>
          <p:nvPr/>
        </p:nvSpPr>
        <p:spPr>
          <a:xfrm>
            <a:off x="476251" y="3038399"/>
            <a:ext cx="8191514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5"/>
          <p:cNvSpPr txBox="1"/>
          <p:nvPr/>
        </p:nvSpPr>
        <p:spPr>
          <a:xfrm>
            <a:off x="476251" y="3038399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CA · Travel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5"/>
          <p:cNvSpPr txBox="1"/>
          <p:nvPr/>
        </p:nvSpPr>
        <p:spPr>
          <a:xfrm>
            <a:off x="2476504" y="3038399"/>
            <a:ext cx="1390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38,88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5"/>
          <p:cNvSpPr/>
          <p:nvPr/>
        </p:nvSpPr>
        <p:spPr>
          <a:xfrm>
            <a:off x="3905257" y="3038399"/>
            <a:ext cx="171450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5"/>
          <p:cNvSpPr txBox="1"/>
          <p:nvPr/>
        </p:nvSpPr>
        <p:spPr>
          <a:xfrm>
            <a:off x="3905257" y="3038399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63,59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5"/>
          <p:cNvSpPr txBox="1"/>
          <p:nvPr/>
        </p:nvSpPr>
        <p:spPr>
          <a:xfrm>
            <a:off x="5619760" y="3038399"/>
            <a:ext cx="2057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62,11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5"/>
          <p:cNvSpPr txBox="1"/>
          <p:nvPr/>
        </p:nvSpPr>
        <p:spPr>
          <a:xfrm>
            <a:off x="7715263" y="3038399"/>
            <a:ext cx="914402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+24,71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5"/>
          <p:cNvSpPr/>
          <p:nvPr/>
        </p:nvSpPr>
        <p:spPr>
          <a:xfrm>
            <a:off x="476251" y="3219370"/>
            <a:ext cx="8191514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5"/>
          <p:cNvSpPr txBox="1"/>
          <p:nvPr/>
        </p:nvSpPr>
        <p:spPr>
          <a:xfrm>
            <a:off x="476251" y="3219370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CA · Outdoors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5"/>
          <p:cNvSpPr txBox="1"/>
          <p:nvPr/>
        </p:nvSpPr>
        <p:spPr>
          <a:xfrm>
            <a:off x="2476504" y="3219370"/>
            <a:ext cx="1390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43,21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5"/>
          <p:cNvSpPr/>
          <p:nvPr/>
        </p:nvSpPr>
        <p:spPr>
          <a:xfrm>
            <a:off x="3905257" y="3219370"/>
            <a:ext cx="171450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5"/>
          <p:cNvSpPr txBox="1"/>
          <p:nvPr/>
        </p:nvSpPr>
        <p:spPr>
          <a:xfrm>
            <a:off x="3905257" y="3219370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66,02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5"/>
          <p:cNvSpPr txBox="1"/>
          <p:nvPr/>
        </p:nvSpPr>
        <p:spPr>
          <a:xfrm>
            <a:off x="5619760" y="3219370"/>
            <a:ext cx="2057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64,80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5"/>
          <p:cNvSpPr txBox="1"/>
          <p:nvPr/>
        </p:nvSpPr>
        <p:spPr>
          <a:xfrm>
            <a:off x="7715263" y="3219370"/>
            <a:ext cx="914402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+22,81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5"/>
          <p:cNvSpPr/>
          <p:nvPr/>
        </p:nvSpPr>
        <p:spPr>
          <a:xfrm>
            <a:off x="476251" y="3400340"/>
            <a:ext cx="8191514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5"/>
          <p:cNvSpPr txBox="1"/>
          <p:nvPr/>
        </p:nvSpPr>
        <p:spPr>
          <a:xfrm>
            <a:off x="476251" y="3400340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CA · Community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5"/>
          <p:cNvSpPr txBox="1"/>
          <p:nvPr/>
        </p:nvSpPr>
        <p:spPr>
          <a:xfrm>
            <a:off x="2476504" y="3400340"/>
            <a:ext cx="1390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49,55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5"/>
          <p:cNvSpPr/>
          <p:nvPr/>
        </p:nvSpPr>
        <p:spPr>
          <a:xfrm>
            <a:off x="3905257" y="3400340"/>
            <a:ext cx="171450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5"/>
          <p:cNvSpPr txBox="1"/>
          <p:nvPr/>
        </p:nvSpPr>
        <p:spPr>
          <a:xfrm>
            <a:off x="3905257" y="3400340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70,12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5"/>
          <p:cNvSpPr txBox="1"/>
          <p:nvPr/>
        </p:nvSpPr>
        <p:spPr>
          <a:xfrm>
            <a:off x="5619760" y="3400340"/>
            <a:ext cx="2057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69,02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5"/>
          <p:cNvSpPr txBox="1"/>
          <p:nvPr/>
        </p:nvSpPr>
        <p:spPr>
          <a:xfrm>
            <a:off x="7715263" y="3400340"/>
            <a:ext cx="914402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+20,57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5"/>
          <p:cNvSpPr/>
          <p:nvPr/>
        </p:nvSpPr>
        <p:spPr>
          <a:xfrm>
            <a:off x="476251" y="3581311"/>
            <a:ext cx="8191514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5"/>
          <p:cNvSpPr txBox="1"/>
          <p:nvPr/>
        </p:nvSpPr>
        <p:spPr>
          <a:xfrm>
            <a:off x="476251" y="3581311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CA · Entertainment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5"/>
          <p:cNvSpPr txBox="1"/>
          <p:nvPr/>
        </p:nvSpPr>
        <p:spPr>
          <a:xfrm>
            <a:off x="2476504" y="3581311"/>
            <a:ext cx="1390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45,12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5"/>
          <p:cNvSpPr/>
          <p:nvPr/>
        </p:nvSpPr>
        <p:spPr>
          <a:xfrm>
            <a:off x="3905257" y="3581311"/>
            <a:ext cx="171450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5"/>
          <p:cNvSpPr txBox="1"/>
          <p:nvPr/>
        </p:nvSpPr>
        <p:spPr>
          <a:xfrm>
            <a:off x="3905257" y="3581311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66,80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5"/>
          <p:cNvSpPr txBox="1"/>
          <p:nvPr/>
        </p:nvSpPr>
        <p:spPr>
          <a:xfrm>
            <a:off x="5619760" y="3581311"/>
            <a:ext cx="2057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65,49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5"/>
          <p:cNvSpPr txBox="1"/>
          <p:nvPr/>
        </p:nvSpPr>
        <p:spPr>
          <a:xfrm>
            <a:off x="7715263" y="3581311"/>
            <a:ext cx="914402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+21,68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5"/>
          <p:cNvSpPr/>
          <p:nvPr/>
        </p:nvSpPr>
        <p:spPr>
          <a:xfrm>
            <a:off x="476251" y="3762281"/>
            <a:ext cx="8191514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5"/>
          <p:cNvSpPr txBox="1"/>
          <p:nvPr/>
        </p:nvSpPr>
        <p:spPr>
          <a:xfrm>
            <a:off x="476251" y="3762281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TX · Food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5"/>
          <p:cNvSpPr txBox="1"/>
          <p:nvPr/>
        </p:nvSpPr>
        <p:spPr>
          <a:xfrm>
            <a:off x="2476504" y="3762281"/>
            <a:ext cx="1390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54,31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5"/>
          <p:cNvSpPr txBox="1"/>
          <p:nvPr/>
        </p:nvSpPr>
        <p:spPr>
          <a:xfrm>
            <a:off x="3905257" y="3762281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72,40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5"/>
          <p:cNvSpPr/>
          <p:nvPr/>
        </p:nvSpPr>
        <p:spPr>
          <a:xfrm>
            <a:off x="5619760" y="3762281"/>
            <a:ext cx="209550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5"/>
          <p:cNvSpPr txBox="1"/>
          <p:nvPr/>
        </p:nvSpPr>
        <p:spPr>
          <a:xfrm>
            <a:off x="5619760" y="3762281"/>
            <a:ext cx="2057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73,10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5"/>
          <p:cNvSpPr txBox="1"/>
          <p:nvPr/>
        </p:nvSpPr>
        <p:spPr>
          <a:xfrm>
            <a:off x="7715263" y="3762281"/>
            <a:ext cx="914402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+18,79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5"/>
          <p:cNvSpPr/>
          <p:nvPr/>
        </p:nvSpPr>
        <p:spPr>
          <a:xfrm>
            <a:off x="476251" y="3943252"/>
            <a:ext cx="8191514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5"/>
          <p:cNvSpPr txBox="1"/>
          <p:nvPr/>
        </p:nvSpPr>
        <p:spPr>
          <a:xfrm>
            <a:off x="476251" y="3943252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TX · Shopping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5"/>
          <p:cNvSpPr txBox="1"/>
          <p:nvPr/>
        </p:nvSpPr>
        <p:spPr>
          <a:xfrm>
            <a:off x="2476504" y="3943252"/>
            <a:ext cx="1390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62,70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5"/>
          <p:cNvSpPr txBox="1"/>
          <p:nvPr/>
        </p:nvSpPr>
        <p:spPr>
          <a:xfrm>
            <a:off x="3905257" y="3943252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78,80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5"/>
          <p:cNvSpPr/>
          <p:nvPr/>
        </p:nvSpPr>
        <p:spPr>
          <a:xfrm>
            <a:off x="5619760" y="3943252"/>
            <a:ext cx="209550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5"/>
          <p:cNvSpPr txBox="1"/>
          <p:nvPr/>
        </p:nvSpPr>
        <p:spPr>
          <a:xfrm>
            <a:off x="5619760" y="3943252"/>
            <a:ext cx="2057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79,67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5"/>
          <p:cNvSpPr txBox="1"/>
          <p:nvPr/>
        </p:nvSpPr>
        <p:spPr>
          <a:xfrm>
            <a:off x="7715263" y="3943252"/>
            <a:ext cx="914402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+16,97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5"/>
          <p:cNvSpPr/>
          <p:nvPr/>
        </p:nvSpPr>
        <p:spPr>
          <a:xfrm>
            <a:off x="476251" y="4124222"/>
            <a:ext cx="8191514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5"/>
          <p:cNvSpPr txBox="1"/>
          <p:nvPr/>
        </p:nvSpPr>
        <p:spPr>
          <a:xfrm>
            <a:off x="476251" y="4124222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TX · Nightlife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5"/>
          <p:cNvSpPr txBox="1"/>
          <p:nvPr/>
        </p:nvSpPr>
        <p:spPr>
          <a:xfrm>
            <a:off x="2476504" y="4124222"/>
            <a:ext cx="1390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34,44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5"/>
          <p:cNvSpPr txBox="1"/>
          <p:nvPr/>
        </p:nvSpPr>
        <p:spPr>
          <a:xfrm>
            <a:off x="3905257" y="4124222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63,12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5"/>
          <p:cNvSpPr/>
          <p:nvPr/>
        </p:nvSpPr>
        <p:spPr>
          <a:xfrm>
            <a:off x="5619760" y="4124222"/>
            <a:ext cx="209550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5"/>
          <p:cNvSpPr txBox="1"/>
          <p:nvPr/>
        </p:nvSpPr>
        <p:spPr>
          <a:xfrm>
            <a:off x="5619760" y="4124222"/>
            <a:ext cx="2057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64,57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5"/>
          <p:cNvSpPr txBox="1"/>
          <p:nvPr/>
        </p:nvSpPr>
        <p:spPr>
          <a:xfrm>
            <a:off x="7715263" y="4124222"/>
            <a:ext cx="914402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+30,13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5"/>
          <p:cNvSpPr/>
          <p:nvPr/>
        </p:nvSpPr>
        <p:spPr>
          <a:xfrm>
            <a:off x="476251" y="4305192"/>
            <a:ext cx="8191514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5"/>
          <p:cNvSpPr txBox="1"/>
          <p:nvPr/>
        </p:nvSpPr>
        <p:spPr>
          <a:xfrm>
            <a:off x="476251" y="4305192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TX · Travel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5"/>
          <p:cNvSpPr txBox="1"/>
          <p:nvPr/>
        </p:nvSpPr>
        <p:spPr>
          <a:xfrm>
            <a:off x="2476504" y="4305192"/>
            <a:ext cx="1390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39,37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5"/>
          <p:cNvSpPr txBox="1"/>
          <p:nvPr/>
        </p:nvSpPr>
        <p:spPr>
          <a:xfrm>
            <a:off x="3905257" y="4305192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63,90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5"/>
          <p:cNvSpPr/>
          <p:nvPr/>
        </p:nvSpPr>
        <p:spPr>
          <a:xfrm>
            <a:off x="5619760" y="4305192"/>
            <a:ext cx="209550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5"/>
          <p:cNvSpPr txBox="1"/>
          <p:nvPr/>
        </p:nvSpPr>
        <p:spPr>
          <a:xfrm>
            <a:off x="5619760" y="4305192"/>
            <a:ext cx="2057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64,73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5"/>
          <p:cNvSpPr txBox="1"/>
          <p:nvPr/>
        </p:nvSpPr>
        <p:spPr>
          <a:xfrm>
            <a:off x="7715263" y="4305192"/>
            <a:ext cx="914402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+25,36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5"/>
          <p:cNvSpPr/>
          <p:nvPr/>
        </p:nvSpPr>
        <p:spPr>
          <a:xfrm>
            <a:off x="476251" y="4486163"/>
            <a:ext cx="8191514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5"/>
          <p:cNvSpPr txBox="1"/>
          <p:nvPr/>
        </p:nvSpPr>
        <p:spPr>
          <a:xfrm>
            <a:off x="476251" y="4486163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TX · Outdoors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5"/>
          <p:cNvSpPr txBox="1"/>
          <p:nvPr/>
        </p:nvSpPr>
        <p:spPr>
          <a:xfrm>
            <a:off x="2476504" y="4486163"/>
            <a:ext cx="1390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44,18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5"/>
          <p:cNvSpPr txBox="1"/>
          <p:nvPr/>
        </p:nvSpPr>
        <p:spPr>
          <a:xfrm>
            <a:off x="3905257" y="4486163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67,12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5"/>
          <p:cNvSpPr/>
          <p:nvPr/>
        </p:nvSpPr>
        <p:spPr>
          <a:xfrm>
            <a:off x="5619760" y="4486163"/>
            <a:ext cx="209550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5"/>
          <p:cNvSpPr txBox="1"/>
          <p:nvPr/>
        </p:nvSpPr>
        <p:spPr>
          <a:xfrm>
            <a:off x="5619760" y="4486163"/>
            <a:ext cx="2057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68,40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5"/>
          <p:cNvSpPr txBox="1"/>
          <p:nvPr/>
        </p:nvSpPr>
        <p:spPr>
          <a:xfrm>
            <a:off x="7715263" y="4486163"/>
            <a:ext cx="914402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+24,22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5"/>
          <p:cNvSpPr/>
          <p:nvPr/>
        </p:nvSpPr>
        <p:spPr>
          <a:xfrm>
            <a:off x="476251" y="4667133"/>
            <a:ext cx="8191514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5"/>
          <p:cNvSpPr txBox="1"/>
          <p:nvPr/>
        </p:nvSpPr>
        <p:spPr>
          <a:xfrm>
            <a:off x="476251" y="4667133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TX · Community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5"/>
          <p:cNvSpPr txBox="1"/>
          <p:nvPr/>
        </p:nvSpPr>
        <p:spPr>
          <a:xfrm>
            <a:off x="2476504" y="4667133"/>
            <a:ext cx="1390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50,02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5"/>
          <p:cNvSpPr txBox="1"/>
          <p:nvPr/>
        </p:nvSpPr>
        <p:spPr>
          <a:xfrm>
            <a:off x="3905257" y="4667133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70,01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5"/>
          <p:cNvSpPr/>
          <p:nvPr/>
        </p:nvSpPr>
        <p:spPr>
          <a:xfrm>
            <a:off x="5619760" y="4667133"/>
            <a:ext cx="209550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5"/>
          <p:cNvSpPr txBox="1"/>
          <p:nvPr/>
        </p:nvSpPr>
        <p:spPr>
          <a:xfrm>
            <a:off x="5619760" y="4667133"/>
            <a:ext cx="2057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71,28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5"/>
          <p:cNvSpPr txBox="1"/>
          <p:nvPr/>
        </p:nvSpPr>
        <p:spPr>
          <a:xfrm>
            <a:off x="7715263" y="4667133"/>
            <a:ext cx="914402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+21,26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5"/>
          <p:cNvSpPr/>
          <p:nvPr/>
        </p:nvSpPr>
        <p:spPr>
          <a:xfrm>
            <a:off x="476251" y="4848104"/>
            <a:ext cx="8191514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5"/>
          <p:cNvSpPr txBox="1"/>
          <p:nvPr/>
        </p:nvSpPr>
        <p:spPr>
          <a:xfrm>
            <a:off x="476251" y="4848104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TX · Entertainment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5"/>
          <p:cNvSpPr txBox="1"/>
          <p:nvPr/>
        </p:nvSpPr>
        <p:spPr>
          <a:xfrm>
            <a:off x="2476504" y="4848104"/>
            <a:ext cx="1390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46,40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5"/>
          <p:cNvSpPr txBox="1"/>
          <p:nvPr/>
        </p:nvSpPr>
        <p:spPr>
          <a:xfrm>
            <a:off x="3905257" y="4848104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67,02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5"/>
          <p:cNvSpPr/>
          <p:nvPr/>
        </p:nvSpPr>
        <p:spPr>
          <a:xfrm>
            <a:off x="5619760" y="4848104"/>
            <a:ext cx="209550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5"/>
          <p:cNvSpPr txBox="1"/>
          <p:nvPr/>
        </p:nvSpPr>
        <p:spPr>
          <a:xfrm>
            <a:off x="5619760" y="4848104"/>
            <a:ext cx="2057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68,11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5"/>
          <p:cNvSpPr txBox="1"/>
          <p:nvPr/>
        </p:nvSpPr>
        <p:spPr>
          <a:xfrm>
            <a:off x="7715263" y="4848104"/>
            <a:ext cx="914402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+21,71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25"/>
          <p:cNvSpPr/>
          <p:nvPr/>
        </p:nvSpPr>
        <p:spPr>
          <a:xfrm>
            <a:off x="476251" y="5029074"/>
            <a:ext cx="8191514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5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🎓 NESPeD-LAB · UFV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5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ST-MTLNet @ CoUrb 2026 · backup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5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A1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6"/>
          <p:cNvSpPr/>
          <p:nvPr/>
        </p:nvSpPr>
        <p:spPr>
          <a:xfrm>
            <a:off x="0" y="0"/>
            <a:ext cx="9144015" cy="5143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6"/>
          <p:cNvSpPr/>
          <p:nvPr/>
        </p:nvSpPr>
        <p:spPr>
          <a:xfrm>
            <a:off x="0" y="0"/>
            <a:ext cx="9144015" cy="28574"/>
          </a:xfrm>
          <a:prstGeom prst="rect">
            <a:avLst/>
          </a:prstGeom>
          <a:solidFill>
            <a:srgbClr val="66339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6"/>
          <p:cNvSpPr txBox="1"/>
          <p:nvPr/>
        </p:nvSpPr>
        <p:spPr>
          <a:xfrm>
            <a:off x="381000" y="114297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663399"/>
                </a:solidFill>
                <a:latin typeface="Inter"/>
                <a:ea typeface="Inter"/>
                <a:cs typeface="Inter"/>
                <a:sym typeface="Inter"/>
              </a:rPr>
              <a:t>BACKUP A2 / A13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6"/>
          <p:cNvSpPr txBox="1"/>
          <p:nvPr/>
        </p:nvSpPr>
        <p:spPr>
          <a:xfrm>
            <a:off x="476251" y="380990"/>
            <a:ext cx="8191514" cy="333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Tabela completa — F1 Next-POI</a:t>
            </a:r>
            <a:r>
              <a:rPr b="0" i="0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  (21 linhas)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6"/>
          <p:cNvSpPr txBox="1"/>
          <p:nvPr/>
        </p:nvSpPr>
        <p:spPr>
          <a:xfrm>
            <a:off x="476251" y="1047724"/>
            <a:ext cx="21907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Estado · Categoria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6"/>
          <p:cNvSpPr txBox="1"/>
          <p:nvPr/>
        </p:nvSpPr>
        <p:spPr>
          <a:xfrm>
            <a:off x="2667004" y="1047724"/>
            <a:ext cx="17145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Baseline (DGI)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6"/>
          <p:cNvSpPr txBox="1"/>
          <p:nvPr/>
        </p:nvSpPr>
        <p:spPr>
          <a:xfrm>
            <a:off x="4381507" y="1047724"/>
            <a:ext cx="20002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ST-MTLNet (melhor)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6"/>
          <p:cNvSpPr txBox="1"/>
          <p:nvPr/>
        </p:nvSpPr>
        <p:spPr>
          <a:xfrm>
            <a:off x="6381760" y="1047724"/>
            <a:ext cx="17145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Resultado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6"/>
          <p:cNvSpPr/>
          <p:nvPr/>
        </p:nvSpPr>
        <p:spPr>
          <a:xfrm>
            <a:off x="476251" y="1228694"/>
            <a:ext cx="7620013" cy="9525"/>
          </a:xfrm>
          <a:prstGeom prst="rect">
            <a:avLst/>
          </a:prstGeom>
          <a:solidFill>
            <a:srgbClr val="E6E8E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6"/>
          <p:cNvSpPr txBox="1"/>
          <p:nvPr/>
        </p:nvSpPr>
        <p:spPr>
          <a:xfrm>
            <a:off x="476251" y="1228694"/>
            <a:ext cx="2152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FL · Food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6"/>
          <p:cNvSpPr txBox="1"/>
          <p:nvPr/>
        </p:nvSpPr>
        <p:spPr>
          <a:xfrm>
            <a:off x="2667004" y="1228694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34,8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6"/>
          <p:cNvSpPr/>
          <p:nvPr/>
        </p:nvSpPr>
        <p:spPr>
          <a:xfrm>
            <a:off x="4381507" y="1228694"/>
            <a:ext cx="200025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6"/>
          <p:cNvSpPr txBox="1"/>
          <p:nvPr/>
        </p:nvSpPr>
        <p:spPr>
          <a:xfrm>
            <a:off x="4381507" y="1228694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42,1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26"/>
          <p:cNvSpPr txBox="1"/>
          <p:nvPr/>
        </p:nvSpPr>
        <p:spPr>
          <a:xfrm>
            <a:off x="6381760" y="1228694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vitória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26"/>
          <p:cNvSpPr/>
          <p:nvPr/>
        </p:nvSpPr>
        <p:spPr>
          <a:xfrm>
            <a:off x="476251" y="1409665"/>
            <a:ext cx="7620013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6"/>
          <p:cNvSpPr txBox="1"/>
          <p:nvPr/>
        </p:nvSpPr>
        <p:spPr>
          <a:xfrm>
            <a:off x="476251" y="1409665"/>
            <a:ext cx="2152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FL · Shopping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6"/>
          <p:cNvSpPr txBox="1"/>
          <p:nvPr/>
        </p:nvSpPr>
        <p:spPr>
          <a:xfrm>
            <a:off x="2667004" y="1409665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36,2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26"/>
          <p:cNvSpPr/>
          <p:nvPr/>
        </p:nvSpPr>
        <p:spPr>
          <a:xfrm>
            <a:off x="4381507" y="1409665"/>
            <a:ext cx="200025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6"/>
          <p:cNvSpPr txBox="1"/>
          <p:nvPr/>
        </p:nvSpPr>
        <p:spPr>
          <a:xfrm>
            <a:off x="4381507" y="1409665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41,8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26"/>
          <p:cNvSpPr txBox="1"/>
          <p:nvPr/>
        </p:nvSpPr>
        <p:spPr>
          <a:xfrm>
            <a:off x="6381760" y="1409665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vitória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6"/>
          <p:cNvSpPr/>
          <p:nvPr/>
        </p:nvSpPr>
        <p:spPr>
          <a:xfrm>
            <a:off x="476251" y="1590635"/>
            <a:ext cx="7620013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6"/>
          <p:cNvSpPr txBox="1"/>
          <p:nvPr/>
        </p:nvSpPr>
        <p:spPr>
          <a:xfrm>
            <a:off x="476251" y="1590635"/>
            <a:ext cx="2152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FL · Nightlife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6"/>
          <p:cNvSpPr txBox="1"/>
          <p:nvPr/>
        </p:nvSpPr>
        <p:spPr>
          <a:xfrm>
            <a:off x="2667004" y="1590635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29,4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6"/>
          <p:cNvSpPr/>
          <p:nvPr/>
        </p:nvSpPr>
        <p:spPr>
          <a:xfrm>
            <a:off x="4381507" y="1590635"/>
            <a:ext cx="200025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6"/>
          <p:cNvSpPr txBox="1"/>
          <p:nvPr/>
        </p:nvSpPr>
        <p:spPr>
          <a:xfrm>
            <a:off x="4381507" y="1590635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33,2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6"/>
          <p:cNvSpPr txBox="1"/>
          <p:nvPr/>
        </p:nvSpPr>
        <p:spPr>
          <a:xfrm>
            <a:off x="6381760" y="1590635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vitória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6"/>
          <p:cNvSpPr/>
          <p:nvPr/>
        </p:nvSpPr>
        <p:spPr>
          <a:xfrm>
            <a:off x="476251" y="1771606"/>
            <a:ext cx="7620013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6"/>
          <p:cNvSpPr txBox="1"/>
          <p:nvPr/>
        </p:nvSpPr>
        <p:spPr>
          <a:xfrm>
            <a:off x="476251" y="1771606"/>
            <a:ext cx="2152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FL · Travel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6"/>
          <p:cNvSpPr txBox="1"/>
          <p:nvPr/>
        </p:nvSpPr>
        <p:spPr>
          <a:xfrm>
            <a:off x="2667004" y="1771606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31,1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6"/>
          <p:cNvSpPr txBox="1"/>
          <p:nvPr/>
        </p:nvSpPr>
        <p:spPr>
          <a:xfrm>
            <a:off x="4381507" y="1771606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29,7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6"/>
          <p:cNvSpPr txBox="1"/>
          <p:nvPr/>
        </p:nvSpPr>
        <p:spPr>
          <a:xfrm>
            <a:off x="6381760" y="1771606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derrota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6"/>
          <p:cNvSpPr/>
          <p:nvPr/>
        </p:nvSpPr>
        <p:spPr>
          <a:xfrm>
            <a:off x="476251" y="1952576"/>
            <a:ext cx="7620013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6"/>
          <p:cNvSpPr txBox="1"/>
          <p:nvPr/>
        </p:nvSpPr>
        <p:spPr>
          <a:xfrm>
            <a:off x="476251" y="1952576"/>
            <a:ext cx="2152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FL · Outdoors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6"/>
          <p:cNvSpPr txBox="1"/>
          <p:nvPr/>
        </p:nvSpPr>
        <p:spPr>
          <a:xfrm>
            <a:off x="2667004" y="1952576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30,40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6"/>
          <p:cNvSpPr txBox="1"/>
          <p:nvPr/>
        </p:nvSpPr>
        <p:spPr>
          <a:xfrm>
            <a:off x="4381507" y="1952576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30,38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26"/>
          <p:cNvSpPr txBox="1"/>
          <p:nvPr/>
        </p:nvSpPr>
        <p:spPr>
          <a:xfrm>
            <a:off x="6381760" y="1952576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E67E22"/>
                </a:solidFill>
                <a:latin typeface="Inter"/>
                <a:ea typeface="Inter"/>
                <a:cs typeface="Inter"/>
                <a:sym typeface="Inter"/>
              </a:rPr>
              <a:t>empate (σ)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6"/>
          <p:cNvSpPr/>
          <p:nvPr/>
        </p:nvSpPr>
        <p:spPr>
          <a:xfrm>
            <a:off x="476251" y="2133547"/>
            <a:ext cx="7620013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6"/>
          <p:cNvSpPr txBox="1"/>
          <p:nvPr/>
        </p:nvSpPr>
        <p:spPr>
          <a:xfrm>
            <a:off x="476251" y="2133547"/>
            <a:ext cx="2152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FL · Community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6"/>
          <p:cNvSpPr txBox="1"/>
          <p:nvPr/>
        </p:nvSpPr>
        <p:spPr>
          <a:xfrm>
            <a:off x="2667004" y="2133547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33,5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6"/>
          <p:cNvSpPr/>
          <p:nvPr/>
        </p:nvSpPr>
        <p:spPr>
          <a:xfrm>
            <a:off x="4381507" y="2133547"/>
            <a:ext cx="200025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6"/>
          <p:cNvSpPr txBox="1"/>
          <p:nvPr/>
        </p:nvSpPr>
        <p:spPr>
          <a:xfrm>
            <a:off x="4381507" y="2133547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39,4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6"/>
          <p:cNvSpPr txBox="1"/>
          <p:nvPr/>
        </p:nvSpPr>
        <p:spPr>
          <a:xfrm>
            <a:off x="6381760" y="2133547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vitória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6"/>
          <p:cNvSpPr/>
          <p:nvPr/>
        </p:nvSpPr>
        <p:spPr>
          <a:xfrm>
            <a:off x="476251" y="2314517"/>
            <a:ext cx="7620013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6"/>
          <p:cNvSpPr txBox="1"/>
          <p:nvPr/>
        </p:nvSpPr>
        <p:spPr>
          <a:xfrm>
            <a:off x="476251" y="2314517"/>
            <a:ext cx="2152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FL · Entertainment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6"/>
          <p:cNvSpPr txBox="1"/>
          <p:nvPr/>
        </p:nvSpPr>
        <p:spPr>
          <a:xfrm>
            <a:off x="2667004" y="2314517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32,1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6"/>
          <p:cNvSpPr/>
          <p:nvPr/>
        </p:nvSpPr>
        <p:spPr>
          <a:xfrm>
            <a:off x="4381507" y="2314517"/>
            <a:ext cx="200025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6"/>
          <p:cNvSpPr txBox="1"/>
          <p:nvPr/>
        </p:nvSpPr>
        <p:spPr>
          <a:xfrm>
            <a:off x="4381507" y="2314517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36,9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6"/>
          <p:cNvSpPr txBox="1"/>
          <p:nvPr/>
        </p:nvSpPr>
        <p:spPr>
          <a:xfrm>
            <a:off x="6381760" y="2314517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vitória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6"/>
          <p:cNvSpPr/>
          <p:nvPr/>
        </p:nvSpPr>
        <p:spPr>
          <a:xfrm>
            <a:off x="476251" y="2495488"/>
            <a:ext cx="7620013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6"/>
          <p:cNvSpPr txBox="1"/>
          <p:nvPr/>
        </p:nvSpPr>
        <p:spPr>
          <a:xfrm>
            <a:off x="476251" y="2495488"/>
            <a:ext cx="2152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CA · Food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6"/>
          <p:cNvSpPr txBox="1"/>
          <p:nvPr/>
        </p:nvSpPr>
        <p:spPr>
          <a:xfrm>
            <a:off x="2667004" y="2495488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29,0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6"/>
          <p:cNvSpPr/>
          <p:nvPr/>
        </p:nvSpPr>
        <p:spPr>
          <a:xfrm>
            <a:off x="4381507" y="2495488"/>
            <a:ext cx="200025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6"/>
          <p:cNvSpPr txBox="1"/>
          <p:nvPr/>
        </p:nvSpPr>
        <p:spPr>
          <a:xfrm>
            <a:off x="4381507" y="2495488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51,0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6"/>
          <p:cNvSpPr txBox="1"/>
          <p:nvPr/>
        </p:nvSpPr>
        <p:spPr>
          <a:xfrm>
            <a:off x="6381760" y="2495488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vitória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6"/>
          <p:cNvSpPr/>
          <p:nvPr/>
        </p:nvSpPr>
        <p:spPr>
          <a:xfrm>
            <a:off x="476251" y="2676458"/>
            <a:ext cx="7620013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6"/>
          <p:cNvSpPr txBox="1"/>
          <p:nvPr/>
        </p:nvSpPr>
        <p:spPr>
          <a:xfrm>
            <a:off x="476251" y="2676458"/>
            <a:ext cx="2152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CA · Shopping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6"/>
          <p:cNvSpPr txBox="1"/>
          <p:nvPr/>
        </p:nvSpPr>
        <p:spPr>
          <a:xfrm>
            <a:off x="2667004" y="2676458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34,1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26"/>
          <p:cNvSpPr/>
          <p:nvPr/>
        </p:nvSpPr>
        <p:spPr>
          <a:xfrm>
            <a:off x="4381507" y="2676458"/>
            <a:ext cx="200025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6"/>
          <p:cNvSpPr txBox="1"/>
          <p:nvPr/>
        </p:nvSpPr>
        <p:spPr>
          <a:xfrm>
            <a:off x="4381507" y="2676458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40,2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6"/>
          <p:cNvSpPr txBox="1"/>
          <p:nvPr/>
        </p:nvSpPr>
        <p:spPr>
          <a:xfrm>
            <a:off x="6381760" y="2676458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vitória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26"/>
          <p:cNvSpPr/>
          <p:nvPr/>
        </p:nvSpPr>
        <p:spPr>
          <a:xfrm>
            <a:off x="476251" y="2857429"/>
            <a:ext cx="7620013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6"/>
          <p:cNvSpPr txBox="1"/>
          <p:nvPr/>
        </p:nvSpPr>
        <p:spPr>
          <a:xfrm>
            <a:off x="476251" y="2857429"/>
            <a:ext cx="2152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CA · Nightlife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6"/>
          <p:cNvSpPr txBox="1"/>
          <p:nvPr/>
        </p:nvSpPr>
        <p:spPr>
          <a:xfrm>
            <a:off x="2667004" y="2857429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32,8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6"/>
          <p:cNvSpPr txBox="1"/>
          <p:nvPr/>
        </p:nvSpPr>
        <p:spPr>
          <a:xfrm>
            <a:off x="4381507" y="2857429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30,9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26"/>
          <p:cNvSpPr txBox="1"/>
          <p:nvPr/>
        </p:nvSpPr>
        <p:spPr>
          <a:xfrm>
            <a:off x="6381760" y="2857429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derrota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6"/>
          <p:cNvSpPr/>
          <p:nvPr/>
        </p:nvSpPr>
        <p:spPr>
          <a:xfrm>
            <a:off x="476251" y="3038399"/>
            <a:ext cx="7620013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6"/>
          <p:cNvSpPr txBox="1"/>
          <p:nvPr/>
        </p:nvSpPr>
        <p:spPr>
          <a:xfrm>
            <a:off x="476251" y="3038399"/>
            <a:ext cx="2152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CA · Travel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6"/>
          <p:cNvSpPr txBox="1"/>
          <p:nvPr/>
        </p:nvSpPr>
        <p:spPr>
          <a:xfrm>
            <a:off x="2667004" y="3038399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30,5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6"/>
          <p:cNvSpPr txBox="1"/>
          <p:nvPr/>
        </p:nvSpPr>
        <p:spPr>
          <a:xfrm>
            <a:off x="4381507" y="3038399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28,7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6"/>
          <p:cNvSpPr txBox="1"/>
          <p:nvPr/>
        </p:nvSpPr>
        <p:spPr>
          <a:xfrm>
            <a:off x="6381760" y="3038399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derrota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6"/>
          <p:cNvSpPr/>
          <p:nvPr/>
        </p:nvSpPr>
        <p:spPr>
          <a:xfrm>
            <a:off x="476251" y="3219370"/>
            <a:ext cx="7620013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6"/>
          <p:cNvSpPr txBox="1"/>
          <p:nvPr/>
        </p:nvSpPr>
        <p:spPr>
          <a:xfrm>
            <a:off x="476251" y="3219370"/>
            <a:ext cx="2152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CA · Outdoors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6"/>
          <p:cNvSpPr txBox="1"/>
          <p:nvPr/>
        </p:nvSpPr>
        <p:spPr>
          <a:xfrm>
            <a:off x="2667004" y="3219370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31,2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6"/>
          <p:cNvSpPr txBox="1"/>
          <p:nvPr/>
        </p:nvSpPr>
        <p:spPr>
          <a:xfrm>
            <a:off x="4381507" y="3219370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29,9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6"/>
          <p:cNvSpPr txBox="1"/>
          <p:nvPr/>
        </p:nvSpPr>
        <p:spPr>
          <a:xfrm>
            <a:off x="6381760" y="3219370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derrota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6"/>
          <p:cNvSpPr/>
          <p:nvPr/>
        </p:nvSpPr>
        <p:spPr>
          <a:xfrm>
            <a:off x="476251" y="3400340"/>
            <a:ext cx="7620013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6"/>
          <p:cNvSpPr txBox="1"/>
          <p:nvPr/>
        </p:nvSpPr>
        <p:spPr>
          <a:xfrm>
            <a:off x="476251" y="3400340"/>
            <a:ext cx="2152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CA · Community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26"/>
          <p:cNvSpPr txBox="1"/>
          <p:nvPr/>
        </p:nvSpPr>
        <p:spPr>
          <a:xfrm>
            <a:off x="2667004" y="3400340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33,0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26"/>
          <p:cNvSpPr/>
          <p:nvPr/>
        </p:nvSpPr>
        <p:spPr>
          <a:xfrm>
            <a:off x="4381507" y="3400340"/>
            <a:ext cx="200025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6"/>
          <p:cNvSpPr txBox="1"/>
          <p:nvPr/>
        </p:nvSpPr>
        <p:spPr>
          <a:xfrm>
            <a:off x="4381507" y="3400340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38,1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26"/>
          <p:cNvSpPr txBox="1"/>
          <p:nvPr/>
        </p:nvSpPr>
        <p:spPr>
          <a:xfrm>
            <a:off x="6381760" y="3400340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vitória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6"/>
          <p:cNvSpPr/>
          <p:nvPr/>
        </p:nvSpPr>
        <p:spPr>
          <a:xfrm>
            <a:off x="476251" y="3581311"/>
            <a:ext cx="7620013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6"/>
          <p:cNvSpPr txBox="1"/>
          <p:nvPr/>
        </p:nvSpPr>
        <p:spPr>
          <a:xfrm>
            <a:off x="476251" y="3581311"/>
            <a:ext cx="2152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CA · Entertainment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6"/>
          <p:cNvSpPr txBox="1"/>
          <p:nvPr/>
        </p:nvSpPr>
        <p:spPr>
          <a:xfrm>
            <a:off x="2667004" y="3581311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32,4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6"/>
          <p:cNvSpPr txBox="1"/>
          <p:nvPr/>
        </p:nvSpPr>
        <p:spPr>
          <a:xfrm>
            <a:off x="4381507" y="3581311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30,6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6"/>
          <p:cNvSpPr txBox="1"/>
          <p:nvPr/>
        </p:nvSpPr>
        <p:spPr>
          <a:xfrm>
            <a:off x="6381760" y="3581311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derrota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6"/>
          <p:cNvSpPr/>
          <p:nvPr/>
        </p:nvSpPr>
        <p:spPr>
          <a:xfrm>
            <a:off x="476251" y="3762281"/>
            <a:ext cx="7620013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6"/>
          <p:cNvSpPr txBox="1"/>
          <p:nvPr/>
        </p:nvSpPr>
        <p:spPr>
          <a:xfrm>
            <a:off x="476251" y="3762281"/>
            <a:ext cx="2152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TX · Food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26"/>
          <p:cNvSpPr txBox="1"/>
          <p:nvPr/>
        </p:nvSpPr>
        <p:spPr>
          <a:xfrm>
            <a:off x="2667004" y="3762281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34,4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6"/>
          <p:cNvSpPr/>
          <p:nvPr/>
        </p:nvSpPr>
        <p:spPr>
          <a:xfrm>
            <a:off x="4381507" y="3762281"/>
            <a:ext cx="200025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6"/>
          <p:cNvSpPr txBox="1"/>
          <p:nvPr/>
        </p:nvSpPr>
        <p:spPr>
          <a:xfrm>
            <a:off x="4381507" y="3762281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43,2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6"/>
          <p:cNvSpPr txBox="1"/>
          <p:nvPr/>
        </p:nvSpPr>
        <p:spPr>
          <a:xfrm>
            <a:off x="6381760" y="3762281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vitória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6"/>
          <p:cNvSpPr/>
          <p:nvPr/>
        </p:nvSpPr>
        <p:spPr>
          <a:xfrm>
            <a:off x="476251" y="3943252"/>
            <a:ext cx="7620013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6"/>
          <p:cNvSpPr txBox="1"/>
          <p:nvPr/>
        </p:nvSpPr>
        <p:spPr>
          <a:xfrm>
            <a:off x="476251" y="3943252"/>
            <a:ext cx="2152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TX · Shopping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6"/>
          <p:cNvSpPr txBox="1"/>
          <p:nvPr/>
        </p:nvSpPr>
        <p:spPr>
          <a:xfrm>
            <a:off x="2667004" y="3943252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36,1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26"/>
          <p:cNvSpPr/>
          <p:nvPr/>
        </p:nvSpPr>
        <p:spPr>
          <a:xfrm>
            <a:off x="4381507" y="3943252"/>
            <a:ext cx="200025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6"/>
          <p:cNvSpPr txBox="1"/>
          <p:nvPr/>
        </p:nvSpPr>
        <p:spPr>
          <a:xfrm>
            <a:off x="4381507" y="3943252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42,4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6"/>
          <p:cNvSpPr txBox="1"/>
          <p:nvPr/>
        </p:nvSpPr>
        <p:spPr>
          <a:xfrm>
            <a:off x="6381760" y="3943252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vitória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6"/>
          <p:cNvSpPr/>
          <p:nvPr/>
        </p:nvSpPr>
        <p:spPr>
          <a:xfrm>
            <a:off x="476251" y="4124222"/>
            <a:ext cx="7620013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6"/>
          <p:cNvSpPr txBox="1"/>
          <p:nvPr/>
        </p:nvSpPr>
        <p:spPr>
          <a:xfrm>
            <a:off x="476251" y="4124222"/>
            <a:ext cx="2152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TX · Nightlife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6"/>
          <p:cNvSpPr txBox="1"/>
          <p:nvPr/>
        </p:nvSpPr>
        <p:spPr>
          <a:xfrm>
            <a:off x="2667004" y="4124222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30,2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6"/>
          <p:cNvSpPr/>
          <p:nvPr/>
        </p:nvSpPr>
        <p:spPr>
          <a:xfrm>
            <a:off x="4381507" y="4124222"/>
            <a:ext cx="200025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6"/>
          <p:cNvSpPr txBox="1"/>
          <p:nvPr/>
        </p:nvSpPr>
        <p:spPr>
          <a:xfrm>
            <a:off x="4381507" y="4124222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34,1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6"/>
          <p:cNvSpPr txBox="1"/>
          <p:nvPr/>
        </p:nvSpPr>
        <p:spPr>
          <a:xfrm>
            <a:off x="6381760" y="4124222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vitória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6"/>
          <p:cNvSpPr/>
          <p:nvPr/>
        </p:nvSpPr>
        <p:spPr>
          <a:xfrm>
            <a:off x="476251" y="4305192"/>
            <a:ext cx="7620013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6"/>
          <p:cNvSpPr txBox="1"/>
          <p:nvPr/>
        </p:nvSpPr>
        <p:spPr>
          <a:xfrm>
            <a:off x="476251" y="4305192"/>
            <a:ext cx="2152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TX · Travel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26"/>
          <p:cNvSpPr txBox="1"/>
          <p:nvPr/>
        </p:nvSpPr>
        <p:spPr>
          <a:xfrm>
            <a:off x="2667004" y="4305192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31,4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26"/>
          <p:cNvSpPr/>
          <p:nvPr/>
        </p:nvSpPr>
        <p:spPr>
          <a:xfrm>
            <a:off x="4381507" y="4305192"/>
            <a:ext cx="200025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6"/>
          <p:cNvSpPr txBox="1"/>
          <p:nvPr/>
        </p:nvSpPr>
        <p:spPr>
          <a:xfrm>
            <a:off x="4381507" y="4305192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33,8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26"/>
          <p:cNvSpPr txBox="1"/>
          <p:nvPr/>
        </p:nvSpPr>
        <p:spPr>
          <a:xfrm>
            <a:off x="6381760" y="4305192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vitória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26"/>
          <p:cNvSpPr/>
          <p:nvPr/>
        </p:nvSpPr>
        <p:spPr>
          <a:xfrm>
            <a:off x="476251" y="4486163"/>
            <a:ext cx="7620013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6"/>
          <p:cNvSpPr txBox="1"/>
          <p:nvPr/>
        </p:nvSpPr>
        <p:spPr>
          <a:xfrm>
            <a:off x="476251" y="4486163"/>
            <a:ext cx="2152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TX · Outdoors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26"/>
          <p:cNvSpPr txBox="1"/>
          <p:nvPr/>
        </p:nvSpPr>
        <p:spPr>
          <a:xfrm>
            <a:off x="2667004" y="4486163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30,9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26"/>
          <p:cNvSpPr/>
          <p:nvPr/>
        </p:nvSpPr>
        <p:spPr>
          <a:xfrm>
            <a:off x="4381507" y="4486163"/>
            <a:ext cx="200025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6"/>
          <p:cNvSpPr txBox="1"/>
          <p:nvPr/>
        </p:nvSpPr>
        <p:spPr>
          <a:xfrm>
            <a:off x="4381507" y="4486163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32,7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26"/>
          <p:cNvSpPr txBox="1"/>
          <p:nvPr/>
        </p:nvSpPr>
        <p:spPr>
          <a:xfrm>
            <a:off x="6381760" y="4486163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vitória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26"/>
          <p:cNvSpPr/>
          <p:nvPr/>
        </p:nvSpPr>
        <p:spPr>
          <a:xfrm>
            <a:off x="476251" y="4667133"/>
            <a:ext cx="7620013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6"/>
          <p:cNvSpPr txBox="1"/>
          <p:nvPr/>
        </p:nvSpPr>
        <p:spPr>
          <a:xfrm>
            <a:off x="476251" y="4667133"/>
            <a:ext cx="2152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TX · Community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26"/>
          <p:cNvSpPr txBox="1"/>
          <p:nvPr/>
        </p:nvSpPr>
        <p:spPr>
          <a:xfrm>
            <a:off x="2667004" y="4667133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33,2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26"/>
          <p:cNvSpPr/>
          <p:nvPr/>
        </p:nvSpPr>
        <p:spPr>
          <a:xfrm>
            <a:off x="4381507" y="4667133"/>
            <a:ext cx="200025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6"/>
          <p:cNvSpPr txBox="1"/>
          <p:nvPr/>
        </p:nvSpPr>
        <p:spPr>
          <a:xfrm>
            <a:off x="4381507" y="4667133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38,8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26"/>
          <p:cNvSpPr txBox="1"/>
          <p:nvPr/>
        </p:nvSpPr>
        <p:spPr>
          <a:xfrm>
            <a:off x="6381760" y="4667133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vitória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26"/>
          <p:cNvSpPr/>
          <p:nvPr/>
        </p:nvSpPr>
        <p:spPr>
          <a:xfrm>
            <a:off x="476251" y="4848104"/>
            <a:ext cx="7620013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6"/>
          <p:cNvSpPr txBox="1"/>
          <p:nvPr/>
        </p:nvSpPr>
        <p:spPr>
          <a:xfrm>
            <a:off x="476251" y="4848104"/>
            <a:ext cx="215265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TX · Entertainment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26"/>
          <p:cNvSpPr txBox="1"/>
          <p:nvPr/>
        </p:nvSpPr>
        <p:spPr>
          <a:xfrm>
            <a:off x="2667004" y="4848104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32,7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26"/>
          <p:cNvSpPr/>
          <p:nvPr/>
        </p:nvSpPr>
        <p:spPr>
          <a:xfrm>
            <a:off x="4381507" y="4848104"/>
            <a:ext cx="2000253" cy="180971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6"/>
          <p:cNvSpPr txBox="1"/>
          <p:nvPr/>
        </p:nvSpPr>
        <p:spPr>
          <a:xfrm>
            <a:off x="4381507" y="4848104"/>
            <a:ext cx="1962154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36,4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26"/>
          <p:cNvSpPr txBox="1"/>
          <p:nvPr/>
        </p:nvSpPr>
        <p:spPr>
          <a:xfrm>
            <a:off x="6381760" y="4848104"/>
            <a:ext cx="1676403" cy="180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vitória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6"/>
          <p:cNvSpPr/>
          <p:nvPr/>
        </p:nvSpPr>
        <p:spPr>
          <a:xfrm>
            <a:off x="476251" y="5029074"/>
            <a:ext cx="7620013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6"/>
          <p:cNvSpPr txBox="1"/>
          <p:nvPr/>
        </p:nvSpPr>
        <p:spPr>
          <a:xfrm>
            <a:off x="381000" y="4524262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Totais: 15 vitórias estritas · 1 empate técnico (FL · Outdoors, Δ≈0,02 pp) · 5 derrotas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26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🎓 NESPeD-LAB · UFV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26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ST-MTLNet @ CoUrb 2026 · backup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26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A2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7"/>
          <p:cNvSpPr/>
          <p:nvPr/>
        </p:nvSpPr>
        <p:spPr>
          <a:xfrm>
            <a:off x="0" y="0"/>
            <a:ext cx="9144015" cy="5143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7"/>
          <p:cNvSpPr/>
          <p:nvPr/>
        </p:nvSpPr>
        <p:spPr>
          <a:xfrm>
            <a:off x="0" y="0"/>
            <a:ext cx="9144015" cy="28574"/>
          </a:xfrm>
          <a:prstGeom prst="rect">
            <a:avLst/>
          </a:prstGeom>
          <a:solidFill>
            <a:srgbClr val="66339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7"/>
          <p:cNvSpPr txBox="1"/>
          <p:nvPr/>
        </p:nvSpPr>
        <p:spPr>
          <a:xfrm>
            <a:off x="381000" y="114297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663399"/>
                </a:solidFill>
                <a:latin typeface="Inter"/>
                <a:ea typeface="Inter"/>
                <a:cs typeface="Inter"/>
                <a:sym typeface="Inter"/>
              </a:rPr>
              <a:t>BACKUP A3 / A13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27"/>
          <p:cNvSpPr txBox="1"/>
          <p:nvPr/>
        </p:nvSpPr>
        <p:spPr>
          <a:xfrm>
            <a:off x="476251" y="380990"/>
            <a:ext cx="8191514" cy="333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Detalhe — SIREN</a:t>
            </a:r>
            <a:r>
              <a:rPr b="0" i="0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  encoder espacial senoidal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27"/>
          <p:cNvSpPr txBox="1"/>
          <p:nvPr/>
        </p:nvSpPr>
        <p:spPr>
          <a:xfrm>
            <a:off x="476251" y="1142972"/>
            <a:ext cx="3619506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Camada senoidal: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27"/>
          <p:cNvSpPr/>
          <p:nvPr/>
        </p:nvSpPr>
        <p:spPr>
          <a:xfrm>
            <a:off x="476251" y="1362041"/>
            <a:ext cx="3333756" cy="333367"/>
          </a:xfrm>
          <a:prstGeom prst="roundRect">
            <a:avLst>
              <a:gd fmla="val 6000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7"/>
          <p:cNvSpPr txBox="1"/>
          <p:nvPr/>
        </p:nvSpPr>
        <p:spPr>
          <a:xfrm>
            <a:off x="581026" y="1362041"/>
            <a:ext cx="3124205" cy="333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y = sin(ω · Wx + b)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27"/>
          <p:cNvSpPr txBox="1"/>
          <p:nvPr/>
        </p:nvSpPr>
        <p:spPr>
          <a:xfrm>
            <a:off x="476251" y="1809705"/>
            <a:ext cx="3619506" cy="2857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Rede feed-forward com ativações </a:t>
            </a:r>
            <a:r>
              <a:rPr b="0" i="0" lang="en-GB" sz="7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sin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Mapeamento </a:t>
            </a:r>
            <a:r>
              <a:rPr b="0" i="0" lang="en-GB" sz="7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f_θ : ℝ² → ℝ⁶⁴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Iniciações específicas para preservar a distribuição em camadas profundas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27"/>
          <p:cNvSpPr/>
          <p:nvPr/>
        </p:nvSpPr>
        <p:spPr>
          <a:xfrm>
            <a:off x="4667257" y="1142972"/>
            <a:ext cx="4000507" cy="1714457"/>
          </a:xfrm>
          <a:prstGeom prst="roundRect">
            <a:avLst>
              <a:gd fmla="val 4000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7"/>
          <p:cNvSpPr/>
          <p:nvPr/>
        </p:nvSpPr>
        <p:spPr>
          <a:xfrm>
            <a:off x="4667257" y="1142972"/>
            <a:ext cx="28575" cy="1714457"/>
          </a:xfrm>
          <a:prstGeom prst="rect">
            <a:avLst/>
          </a:prstGeom>
          <a:solidFill>
            <a:srgbClr val="16A08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7"/>
          <p:cNvSpPr txBox="1"/>
          <p:nvPr/>
        </p:nvSpPr>
        <p:spPr>
          <a:xfrm>
            <a:off x="4819658" y="1295368"/>
            <a:ext cx="3714756" cy="171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Por que SIREN?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27"/>
          <p:cNvSpPr txBox="1"/>
          <p:nvPr/>
        </p:nvSpPr>
        <p:spPr>
          <a:xfrm>
            <a:off x="4819658" y="1552536"/>
            <a:ext cx="3714756" cy="952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Forte em sinais de </a:t>
            </a:r>
            <a:r>
              <a:rPr b="1" i="0" lang="en-GB" sz="8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alta frequência</a:t>
            </a:r>
            <a:r>
              <a:rPr b="0" i="0" lang="en-GB" sz="8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 sobre ℝ² contínuo — útil para padrões urbanos finos.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2B2B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Referência: </a:t>
            </a:r>
            <a:r>
              <a:rPr b="0" i="0" lang="en-GB" sz="8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Rußwurm '24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27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🎓 NESPeD-LAB · UFV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27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ST-MTLNet @ CoUrb 2026 · backup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27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A3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8"/>
          <p:cNvSpPr/>
          <p:nvPr/>
        </p:nvSpPr>
        <p:spPr>
          <a:xfrm>
            <a:off x="0" y="0"/>
            <a:ext cx="9144015" cy="5143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8"/>
          <p:cNvSpPr/>
          <p:nvPr/>
        </p:nvSpPr>
        <p:spPr>
          <a:xfrm>
            <a:off x="0" y="0"/>
            <a:ext cx="9144015" cy="28574"/>
          </a:xfrm>
          <a:prstGeom prst="rect">
            <a:avLst/>
          </a:prstGeom>
          <a:solidFill>
            <a:srgbClr val="66339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8"/>
          <p:cNvSpPr txBox="1"/>
          <p:nvPr/>
        </p:nvSpPr>
        <p:spPr>
          <a:xfrm>
            <a:off x="381000" y="114297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663399"/>
                </a:solidFill>
                <a:latin typeface="Inter"/>
                <a:ea typeface="Inter"/>
                <a:cs typeface="Inter"/>
                <a:sym typeface="Inter"/>
              </a:rPr>
              <a:t>BACKUP A4 / A13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28"/>
          <p:cNvSpPr txBox="1"/>
          <p:nvPr/>
        </p:nvSpPr>
        <p:spPr>
          <a:xfrm>
            <a:off x="476251" y="380990"/>
            <a:ext cx="8191514" cy="333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Detalhe — Sphere2Vec-M</a:t>
            </a:r>
            <a:r>
              <a:rPr b="0" i="0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  encoder esférico multi-escala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28"/>
          <p:cNvSpPr txBox="1"/>
          <p:nvPr/>
        </p:nvSpPr>
        <p:spPr>
          <a:xfrm>
            <a:off x="476251" y="1190595"/>
            <a:ext cx="3714756" cy="2857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16 escalas geométricas entre </a:t>
            </a:r>
            <a:r>
              <a:rPr b="1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10 km</a:t>
            </a: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b="1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10 000 km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Coordenadas esféricas (λ, φ)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Termos de interação multi-escala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Captura naturalmente </a:t>
            </a:r>
            <a:r>
              <a:rPr b="1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distância geodésica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28"/>
          <p:cNvSpPr/>
          <p:nvPr/>
        </p:nvSpPr>
        <p:spPr>
          <a:xfrm>
            <a:off x="4667257" y="1142972"/>
            <a:ext cx="4000507" cy="1523962"/>
          </a:xfrm>
          <a:prstGeom prst="roundRect">
            <a:avLst>
              <a:gd fmla="val 4000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8"/>
          <p:cNvSpPr/>
          <p:nvPr/>
        </p:nvSpPr>
        <p:spPr>
          <a:xfrm>
            <a:off x="4667257" y="1142972"/>
            <a:ext cx="28575" cy="1523962"/>
          </a:xfrm>
          <a:prstGeom prst="rect">
            <a:avLst/>
          </a:prstGeom>
          <a:solidFill>
            <a:srgbClr val="16A08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8"/>
          <p:cNvSpPr txBox="1"/>
          <p:nvPr/>
        </p:nvSpPr>
        <p:spPr>
          <a:xfrm>
            <a:off x="4819658" y="1295368"/>
            <a:ext cx="3714756" cy="171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Por que Sphere2Vec-M?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28"/>
          <p:cNvSpPr txBox="1"/>
          <p:nvPr/>
        </p:nvSpPr>
        <p:spPr>
          <a:xfrm>
            <a:off x="4819658" y="1552536"/>
            <a:ext cx="3714756" cy="10477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Não assume ℝ²: trata a superfície terrestre como esfera. Forte em estados largos / sinais de longo alcance — </a:t>
            </a:r>
            <a:r>
              <a:rPr b="1" i="0" lang="en-GB" sz="8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Texas é o exemplo</a:t>
            </a:r>
            <a:r>
              <a:rPr b="0" i="0" lang="en-GB" sz="8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2B2B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Referência: </a:t>
            </a:r>
            <a:r>
              <a:rPr b="0" i="0" lang="en-GB" sz="800" u="none" cap="none" strike="noStrike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Mai '23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28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🎓 NESPeD-LAB · UFV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28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ST-MTLNet @ CoUrb 2026 · backup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28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A4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29"/>
          <p:cNvSpPr/>
          <p:nvPr/>
        </p:nvSpPr>
        <p:spPr>
          <a:xfrm>
            <a:off x="0" y="0"/>
            <a:ext cx="9144015" cy="5143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9"/>
          <p:cNvSpPr/>
          <p:nvPr/>
        </p:nvSpPr>
        <p:spPr>
          <a:xfrm>
            <a:off x="0" y="0"/>
            <a:ext cx="9144015" cy="28574"/>
          </a:xfrm>
          <a:prstGeom prst="rect">
            <a:avLst/>
          </a:prstGeom>
          <a:solidFill>
            <a:srgbClr val="66339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9"/>
          <p:cNvSpPr txBox="1"/>
          <p:nvPr/>
        </p:nvSpPr>
        <p:spPr>
          <a:xfrm>
            <a:off x="381000" y="114297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663399"/>
                </a:solidFill>
                <a:latin typeface="Inter"/>
                <a:ea typeface="Inter"/>
                <a:cs typeface="Inter"/>
                <a:sym typeface="Inter"/>
              </a:rPr>
              <a:t>BACKUP A5 / A13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29"/>
          <p:cNvSpPr txBox="1"/>
          <p:nvPr/>
        </p:nvSpPr>
        <p:spPr>
          <a:xfrm>
            <a:off x="476251" y="380990"/>
            <a:ext cx="8191514" cy="333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Detalhe — Time2Vec</a:t>
            </a:r>
            <a:r>
              <a:rPr b="0" i="0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  encoder temporal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29"/>
          <p:cNvSpPr txBox="1"/>
          <p:nvPr/>
        </p:nvSpPr>
        <p:spPr>
          <a:xfrm>
            <a:off x="476251" y="1190595"/>
            <a:ext cx="3619506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Fórmula: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29"/>
          <p:cNvSpPr/>
          <p:nvPr/>
        </p:nvSpPr>
        <p:spPr>
          <a:xfrm>
            <a:off x="476251" y="1409665"/>
            <a:ext cx="3619506" cy="523862"/>
          </a:xfrm>
          <a:prstGeom prst="roundRect">
            <a:avLst>
              <a:gd fmla="val 6000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9"/>
          <p:cNvSpPr txBox="1"/>
          <p:nvPr/>
        </p:nvSpPr>
        <p:spPr>
          <a:xfrm>
            <a:off x="581026" y="1409665"/>
            <a:ext cx="3409955" cy="523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f(τ)[i] = ω₀ · τ + φ₀          se i = 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      = sin(ωᵢ · τ + φᵢ)     se 1 ≤ i ≤ D−1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29"/>
          <p:cNvSpPr txBox="1"/>
          <p:nvPr/>
        </p:nvSpPr>
        <p:spPr>
          <a:xfrm>
            <a:off x="4667257" y="1190595"/>
            <a:ext cx="4000507" cy="2857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Termo linear (</a:t>
            </a:r>
            <a:r>
              <a:rPr b="0" i="0" lang="en-GB" sz="7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i = 0</a:t>
            </a: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) captura </a:t>
            </a:r>
            <a:r>
              <a:rPr b="1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tendência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Termos senoidais capturam </a:t>
            </a:r>
            <a:r>
              <a:rPr b="1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ciclos</a:t>
            </a: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com fase e frequência </a:t>
            </a:r>
            <a:r>
              <a:rPr b="0" i="1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aprendidas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Generaliza encodings cíclicos fixos (sin/cos) — não há período </a:t>
            </a:r>
            <a:r>
              <a:rPr b="0" i="1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 priori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Em mobilidade: periodicidades não-óbvias (ex.: 4,5 dias) ficam dentro do modelo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29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🎓 NESPeD-LAB · UFV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29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ST-MTLNet @ CoUrb 2026 · backup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29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A5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30"/>
          <p:cNvSpPr/>
          <p:nvPr/>
        </p:nvSpPr>
        <p:spPr>
          <a:xfrm>
            <a:off x="0" y="0"/>
            <a:ext cx="9144015" cy="5143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0"/>
          <p:cNvSpPr/>
          <p:nvPr/>
        </p:nvSpPr>
        <p:spPr>
          <a:xfrm>
            <a:off x="0" y="0"/>
            <a:ext cx="9144015" cy="28574"/>
          </a:xfrm>
          <a:prstGeom prst="rect">
            <a:avLst/>
          </a:prstGeom>
          <a:solidFill>
            <a:srgbClr val="66339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0"/>
          <p:cNvSpPr txBox="1"/>
          <p:nvPr/>
        </p:nvSpPr>
        <p:spPr>
          <a:xfrm>
            <a:off x="381000" y="114297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663399"/>
                </a:solidFill>
                <a:latin typeface="Inter"/>
                <a:ea typeface="Inter"/>
                <a:cs typeface="Inter"/>
                <a:sym typeface="Inter"/>
              </a:rPr>
              <a:t>BACKUP A6 / A13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30"/>
          <p:cNvSpPr txBox="1"/>
          <p:nvPr/>
        </p:nvSpPr>
        <p:spPr>
          <a:xfrm>
            <a:off x="476251" y="380990"/>
            <a:ext cx="8191514" cy="333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Detalhe — POI Encoder + HGI</a:t>
            </a:r>
            <a:r>
              <a:rPr b="0" i="0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  encoder categórico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30"/>
          <p:cNvSpPr txBox="1"/>
          <p:nvPr/>
        </p:nvSpPr>
        <p:spPr>
          <a:xfrm>
            <a:off x="476251" y="1285843"/>
            <a:ext cx="7143762" cy="2857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Random walks em </a:t>
            </a:r>
            <a:r>
              <a:rPr b="1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grafo Delaunay</a:t>
            </a: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dos POIs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Skip-gram com </a:t>
            </a:r>
            <a:r>
              <a:rPr b="1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negative sampling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</a:t>
            </a:r>
            <a:r>
              <a:rPr b="1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HGI hierárquico</a:t>
            </a: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em 2 níveis: POI → região · região → cidade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Mistura α = 0,5 entre níveis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Captura tanto vizinhança fina quanto contexto urbano amplo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30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🎓 NESPeD-LAB · UFV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30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ST-MTLNet @ CoUrb 2026 · backup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30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A6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31"/>
          <p:cNvSpPr/>
          <p:nvPr/>
        </p:nvSpPr>
        <p:spPr>
          <a:xfrm>
            <a:off x="0" y="0"/>
            <a:ext cx="9144015" cy="5143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1"/>
          <p:cNvSpPr/>
          <p:nvPr/>
        </p:nvSpPr>
        <p:spPr>
          <a:xfrm>
            <a:off x="0" y="0"/>
            <a:ext cx="9144015" cy="28574"/>
          </a:xfrm>
          <a:prstGeom prst="rect">
            <a:avLst/>
          </a:prstGeom>
          <a:solidFill>
            <a:srgbClr val="66339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1"/>
          <p:cNvSpPr txBox="1"/>
          <p:nvPr/>
        </p:nvSpPr>
        <p:spPr>
          <a:xfrm>
            <a:off x="381000" y="114297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663399"/>
                </a:solidFill>
                <a:latin typeface="Inter"/>
                <a:ea typeface="Inter"/>
                <a:cs typeface="Inter"/>
                <a:sym typeface="Inter"/>
              </a:rPr>
              <a:t>BACKUP A7 / A13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31"/>
          <p:cNvSpPr txBox="1"/>
          <p:nvPr/>
        </p:nvSpPr>
        <p:spPr>
          <a:xfrm>
            <a:off x="476251" y="380990"/>
            <a:ext cx="8191514" cy="333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Detalhe — NashMTL</a:t>
            </a:r>
            <a:r>
              <a:rPr b="0" i="0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  balanceamento entre tarefas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31"/>
          <p:cNvSpPr txBox="1"/>
          <p:nvPr/>
        </p:nvSpPr>
        <p:spPr>
          <a:xfrm>
            <a:off x="476251" y="1285843"/>
            <a:ext cx="7143762" cy="2857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Barganha de Nash entre tarefas (K = 2: categoria, next-POI)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Maximiza o </a:t>
            </a:r>
            <a:r>
              <a:rPr b="1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produto das utilidades de gradiente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Garante atualização </a:t>
            </a:r>
            <a:r>
              <a:rPr b="1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benéfica para todas as tarefas simultaneamente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Hiperparâmetros: </a:t>
            </a:r>
            <a:r>
              <a:rPr b="0" i="0" lang="en-GB" sz="7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max_norm = 2,2</a:t>
            </a: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· </a:t>
            </a:r>
            <a:r>
              <a:rPr b="0" i="0" lang="en-GB" sz="7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update_weights_every = 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31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🎓 NESPeD-LAB · UFV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31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ST-MTLNet @ CoUrb 2026 · backup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31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A7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32"/>
          <p:cNvSpPr/>
          <p:nvPr/>
        </p:nvSpPr>
        <p:spPr>
          <a:xfrm>
            <a:off x="0" y="0"/>
            <a:ext cx="9144015" cy="5143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2"/>
          <p:cNvSpPr/>
          <p:nvPr/>
        </p:nvSpPr>
        <p:spPr>
          <a:xfrm>
            <a:off x="0" y="0"/>
            <a:ext cx="9144015" cy="28574"/>
          </a:xfrm>
          <a:prstGeom prst="rect">
            <a:avLst/>
          </a:prstGeom>
          <a:solidFill>
            <a:srgbClr val="66339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2"/>
          <p:cNvSpPr txBox="1"/>
          <p:nvPr/>
        </p:nvSpPr>
        <p:spPr>
          <a:xfrm>
            <a:off x="381000" y="114297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663399"/>
                </a:solidFill>
                <a:latin typeface="Inter"/>
                <a:ea typeface="Inter"/>
                <a:cs typeface="Inter"/>
                <a:sym typeface="Inter"/>
              </a:rPr>
              <a:t>BACKUP A8 / A13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32"/>
          <p:cNvSpPr txBox="1"/>
          <p:nvPr/>
        </p:nvSpPr>
        <p:spPr>
          <a:xfrm>
            <a:off x="476251" y="380990"/>
            <a:ext cx="8191514" cy="333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Detalhe — Loss Contrastiva Binária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32"/>
          <p:cNvSpPr/>
          <p:nvPr/>
        </p:nvSpPr>
        <p:spPr>
          <a:xfrm>
            <a:off x="476251" y="1142972"/>
            <a:ext cx="8191514" cy="380990"/>
          </a:xfrm>
          <a:prstGeom prst="roundRect">
            <a:avLst>
              <a:gd fmla="val 6000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2"/>
          <p:cNvSpPr txBox="1"/>
          <p:nvPr/>
        </p:nvSpPr>
        <p:spPr>
          <a:xfrm>
            <a:off x="581026" y="1142972"/>
            <a:ext cx="7981963" cy="3809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L_loc = − [ y · log σ(sim / τ) + (1 − y) · log(1 − σ(sim / τ)) 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32"/>
          <p:cNvSpPr txBox="1"/>
          <p:nvPr/>
        </p:nvSpPr>
        <p:spPr>
          <a:xfrm>
            <a:off x="476251" y="1714457"/>
            <a:ext cx="7143762" cy="2857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Temperatura </a:t>
            </a:r>
            <a:r>
              <a:rPr b="0" i="0" lang="en-GB" sz="7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τ = 0,15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</a:t>
            </a:r>
            <a:r>
              <a:rPr b="0" i="0" lang="en-GB" sz="7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y = 1</a:t>
            </a: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se Δd ≤ </a:t>
            </a:r>
            <a:r>
              <a:rPr b="1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10 km</a:t>
            </a: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(par positivo)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</a:t>
            </a:r>
            <a:r>
              <a:rPr b="0" i="0" lang="en-GB" sz="7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y = 0</a:t>
            </a: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se Δd ≥ </a:t>
            </a:r>
            <a:r>
              <a:rPr b="1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70 km</a:t>
            </a: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(par negativo)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Mesma estrutura aplicada para </a:t>
            </a:r>
            <a:r>
              <a:rPr b="1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Time2Vec</a:t>
            </a: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(par+ janela curta, par− janela longa)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32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🎓 NESPeD-LAB · UFV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32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ST-MTLNet @ CoUrb 2026 · backup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32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A8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33"/>
          <p:cNvSpPr/>
          <p:nvPr/>
        </p:nvSpPr>
        <p:spPr>
          <a:xfrm>
            <a:off x="0" y="0"/>
            <a:ext cx="9144015" cy="5143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3"/>
          <p:cNvSpPr/>
          <p:nvPr/>
        </p:nvSpPr>
        <p:spPr>
          <a:xfrm>
            <a:off x="0" y="0"/>
            <a:ext cx="9144015" cy="28574"/>
          </a:xfrm>
          <a:prstGeom prst="rect">
            <a:avLst/>
          </a:prstGeom>
          <a:solidFill>
            <a:srgbClr val="66339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3"/>
          <p:cNvSpPr txBox="1"/>
          <p:nvPr/>
        </p:nvSpPr>
        <p:spPr>
          <a:xfrm>
            <a:off x="381000" y="114297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663399"/>
                </a:solidFill>
                <a:latin typeface="Inter"/>
                <a:ea typeface="Inter"/>
                <a:cs typeface="Inter"/>
                <a:sym typeface="Inter"/>
              </a:rPr>
              <a:t>BACKUP A9 / A13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33"/>
          <p:cNvSpPr txBox="1"/>
          <p:nvPr/>
        </p:nvSpPr>
        <p:spPr>
          <a:xfrm>
            <a:off x="476251" y="380990"/>
            <a:ext cx="8191514" cy="333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Hiperparâmetros de Treinamento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33"/>
          <p:cNvSpPr txBox="1"/>
          <p:nvPr/>
        </p:nvSpPr>
        <p:spPr>
          <a:xfrm>
            <a:off x="581026" y="1142972"/>
            <a:ext cx="1571628" cy="333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Otimizador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33"/>
          <p:cNvSpPr txBox="1"/>
          <p:nvPr/>
        </p:nvSpPr>
        <p:spPr>
          <a:xfrm>
            <a:off x="2295528" y="1142972"/>
            <a:ext cx="5286384" cy="333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AdamW   lr=1e-4 · weight_decay=0,05 · eps=1e-8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33"/>
          <p:cNvSpPr/>
          <p:nvPr/>
        </p:nvSpPr>
        <p:spPr>
          <a:xfrm>
            <a:off x="476251" y="1476338"/>
            <a:ext cx="7143762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3"/>
          <p:cNvSpPr/>
          <p:nvPr/>
        </p:nvSpPr>
        <p:spPr>
          <a:xfrm>
            <a:off x="476251" y="1476338"/>
            <a:ext cx="7143762" cy="333367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3"/>
          <p:cNvSpPr txBox="1"/>
          <p:nvPr/>
        </p:nvSpPr>
        <p:spPr>
          <a:xfrm>
            <a:off x="581026" y="1476338"/>
            <a:ext cx="1571628" cy="333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Scheduler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33"/>
          <p:cNvSpPr txBox="1"/>
          <p:nvPr/>
        </p:nvSpPr>
        <p:spPr>
          <a:xfrm>
            <a:off x="2295528" y="1476338"/>
            <a:ext cx="5286384" cy="333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OneCycleLR   max_lr=1e-3 · 50 épocas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33"/>
          <p:cNvSpPr/>
          <p:nvPr/>
        </p:nvSpPr>
        <p:spPr>
          <a:xfrm>
            <a:off x="476251" y="1809705"/>
            <a:ext cx="7143762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3"/>
          <p:cNvSpPr txBox="1"/>
          <p:nvPr/>
        </p:nvSpPr>
        <p:spPr>
          <a:xfrm>
            <a:off x="581026" y="1809705"/>
            <a:ext cx="1571628" cy="333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Batch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33"/>
          <p:cNvSpPr txBox="1"/>
          <p:nvPr/>
        </p:nvSpPr>
        <p:spPr>
          <a:xfrm>
            <a:off x="2295528" y="1809705"/>
            <a:ext cx="5286384" cy="333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2048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33"/>
          <p:cNvSpPr/>
          <p:nvPr/>
        </p:nvSpPr>
        <p:spPr>
          <a:xfrm>
            <a:off x="476251" y="2143072"/>
            <a:ext cx="7143762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3"/>
          <p:cNvSpPr/>
          <p:nvPr/>
        </p:nvSpPr>
        <p:spPr>
          <a:xfrm>
            <a:off x="476251" y="2143072"/>
            <a:ext cx="7143762" cy="333367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3"/>
          <p:cNvSpPr txBox="1"/>
          <p:nvPr/>
        </p:nvSpPr>
        <p:spPr>
          <a:xfrm>
            <a:off x="581026" y="2143072"/>
            <a:ext cx="1571628" cy="333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Gradient accumulation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33"/>
          <p:cNvSpPr txBox="1"/>
          <p:nvPr/>
        </p:nvSpPr>
        <p:spPr>
          <a:xfrm>
            <a:off x="2295528" y="2143072"/>
            <a:ext cx="5286384" cy="333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2 steps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33"/>
          <p:cNvSpPr/>
          <p:nvPr/>
        </p:nvSpPr>
        <p:spPr>
          <a:xfrm>
            <a:off x="476251" y="2476438"/>
            <a:ext cx="7143762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3"/>
          <p:cNvSpPr txBox="1"/>
          <p:nvPr/>
        </p:nvSpPr>
        <p:spPr>
          <a:xfrm>
            <a:off x="581026" y="2476438"/>
            <a:ext cx="1571628" cy="333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MTL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33"/>
          <p:cNvSpPr txBox="1"/>
          <p:nvPr/>
        </p:nvSpPr>
        <p:spPr>
          <a:xfrm>
            <a:off x="2295528" y="2476438"/>
            <a:ext cx="5286384" cy="333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NashMTL   max_norm=2,2 · update_weights_every=4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33"/>
          <p:cNvSpPr/>
          <p:nvPr/>
        </p:nvSpPr>
        <p:spPr>
          <a:xfrm>
            <a:off x="476251" y="2809805"/>
            <a:ext cx="7143762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3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🎓 NESPeD-LAB · UFV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33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ST-MTLNet @ CoUrb 2026 · backup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33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A9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/>
          <p:nvPr/>
        </p:nvSpPr>
        <p:spPr>
          <a:xfrm>
            <a:off x="0" y="0"/>
            <a:ext cx="9144015" cy="5143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4"/>
          <p:cNvSpPr/>
          <p:nvPr/>
        </p:nvSpPr>
        <p:spPr>
          <a:xfrm>
            <a:off x="0" y="0"/>
            <a:ext cx="9144015" cy="28574"/>
          </a:xfrm>
          <a:prstGeom prst="rect">
            <a:avLst/>
          </a:prstGeom>
          <a:solidFill>
            <a:srgbClr val="66339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4"/>
          <p:cNvSpPr txBox="1"/>
          <p:nvPr/>
        </p:nvSpPr>
        <p:spPr>
          <a:xfrm>
            <a:off x="381000" y="114297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663399"/>
                </a:solidFill>
                <a:latin typeface="Inter"/>
                <a:ea typeface="Inter"/>
                <a:cs typeface="Inter"/>
                <a:sym typeface="Inter"/>
              </a:rPr>
              <a:t>BACKUP A10 / A13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34"/>
          <p:cNvSpPr txBox="1"/>
          <p:nvPr/>
        </p:nvSpPr>
        <p:spPr>
          <a:xfrm>
            <a:off x="476251" y="380990"/>
            <a:ext cx="8191514" cy="333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Infraestrutura &amp; Tempo de Treino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34"/>
          <p:cNvSpPr txBox="1"/>
          <p:nvPr/>
        </p:nvSpPr>
        <p:spPr>
          <a:xfrm>
            <a:off x="581026" y="1142972"/>
            <a:ext cx="1571628" cy="333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GPU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34"/>
          <p:cNvSpPr txBox="1"/>
          <p:nvPr/>
        </p:nvSpPr>
        <p:spPr>
          <a:xfrm>
            <a:off x="2295528" y="1142972"/>
            <a:ext cx="5286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GB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preencher · A40 / T4 (conforme rodado)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34"/>
          <p:cNvSpPr/>
          <p:nvPr/>
        </p:nvSpPr>
        <p:spPr>
          <a:xfrm>
            <a:off x="476251" y="1476338"/>
            <a:ext cx="7143762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4"/>
          <p:cNvSpPr/>
          <p:nvPr/>
        </p:nvSpPr>
        <p:spPr>
          <a:xfrm>
            <a:off x="476251" y="1476338"/>
            <a:ext cx="7143762" cy="333367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4"/>
          <p:cNvSpPr txBox="1"/>
          <p:nvPr/>
        </p:nvSpPr>
        <p:spPr>
          <a:xfrm>
            <a:off x="581026" y="1476338"/>
            <a:ext cx="1571628" cy="333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Tempo de treino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34"/>
          <p:cNvSpPr txBox="1"/>
          <p:nvPr/>
        </p:nvSpPr>
        <p:spPr>
          <a:xfrm>
            <a:off x="2295528" y="1476338"/>
            <a:ext cx="5286384" cy="333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GB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preencher · ~h por (estado × encoder)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34"/>
          <p:cNvSpPr/>
          <p:nvPr/>
        </p:nvSpPr>
        <p:spPr>
          <a:xfrm>
            <a:off x="476251" y="1809705"/>
            <a:ext cx="7143762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4"/>
          <p:cNvSpPr txBox="1"/>
          <p:nvPr/>
        </p:nvSpPr>
        <p:spPr>
          <a:xfrm>
            <a:off x="581026" y="1809705"/>
            <a:ext cx="1571628" cy="333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Memória pico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34"/>
          <p:cNvSpPr txBox="1"/>
          <p:nvPr/>
        </p:nvSpPr>
        <p:spPr>
          <a:xfrm>
            <a:off x="2295528" y="1809705"/>
            <a:ext cx="5286384" cy="333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GB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preencher · GB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34"/>
          <p:cNvSpPr/>
          <p:nvPr/>
        </p:nvSpPr>
        <p:spPr>
          <a:xfrm>
            <a:off x="476251" y="2143072"/>
            <a:ext cx="7143762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4"/>
          <p:cNvSpPr txBox="1"/>
          <p:nvPr/>
        </p:nvSpPr>
        <p:spPr>
          <a:xfrm>
            <a:off x="381000" y="4286143"/>
            <a:ext cx="8382014" cy="190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-GB" sz="8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Valores serão completados quando consolidadas as execuções finais antes da publicação.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34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🎓 NESPeD-LAB · UFV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34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ST-MTLNet @ CoUrb 2026 · backup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34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A10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35"/>
          <p:cNvSpPr/>
          <p:nvPr/>
        </p:nvSpPr>
        <p:spPr>
          <a:xfrm>
            <a:off x="0" y="0"/>
            <a:ext cx="9144015" cy="5143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5"/>
          <p:cNvSpPr/>
          <p:nvPr/>
        </p:nvSpPr>
        <p:spPr>
          <a:xfrm>
            <a:off x="0" y="0"/>
            <a:ext cx="9144015" cy="28574"/>
          </a:xfrm>
          <a:prstGeom prst="rect">
            <a:avLst/>
          </a:prstGeom>
          <a:solidFill>
            <a:srgbClr val="66339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5"/>
          <p:cNvSpPr txBox="1"/>
          <p:nvPr/>
        </p:nvSpPr>
        <p:spPr>
          <a:xfrm>
            <a:off x="381000" y="114297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663399"/>
                </a:solidFill>
                <a:latin typeface="Inter"/>
                <a:ea typeface="Inter"/>
                <a:cs typeface="Inter"/>
                <a:sym typeface="Inter"/>
              </a:rPr>
              <a:t>BACKUP A11 / A13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35"/>
          <p:cNvSpPr txBox="1"/>
          <p:nvPr/>
        </p:nvSpPr>
        <p:spPr>
          <a:xfrm>
            <a:off x="476251" y="380990"/>
            <a:ext cx="8191514" cy="333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Ablação retórica</a:t>
            </a:r>
            <a:r>
              <a:rPr b="0" i="0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  “e se zerássemos um encoder?”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35"/>
          <p:cNvSpPr txBox="1"/>
          <p:nvPr/>
        </p:nvSpPr>
        <p:spPr>
          <a:xfrm>
            <a:off x="581026" y="1142972"/>
            <a:ext cx="1762128" cy="304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Encoder zerado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35"/>
          <p:cNvSpPr txBox="1"/>
          <p:nvPr/>
        </p:nvSpPr>
        <p:spPr>
          <a:xfrm>
            <a:off x="2486029" y="1142972"/>
            <a:ext cx="5095883" cy="304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Perda esperada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35"/>
          <p:cNvSpPr/>
          <p:nvPr/>
        </p:nvSpPr>
        <p:spPr>
          <a:xfrm>
            <a:off x="476251" y="1447764"/>
            <a:ext cx="7143762" cy="9525"/>
          </a:xfrm>
          <a:prstGeom prst="rect">
            <a:avLst/>
          </a:prstGeom>
          <a:solidFill>
            <a:srgbClr val="E6E8E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35"/>
          <p:cNvSpPr txBox="1"/>
          <p:nvPr/>
        </p:nvSpPr>
        <p:spPr>
          <a:xfrm>
            <a:off x="581026" y="1447764"/>
            <a:ext cx="1762128" cy="342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🌐 Espacial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35"/>
          <p:cNvSpPr txBox="1"/>
          <p:nvPr/>
        </p:nvSpPr>
        <p:spPr>
          <a:xfrm>
            <a:off x="2486029" y="1447764"/>
            <a:ext cx="5095883" cy="342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Performance similar ao DGI (~ baseline)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35"/>
          <p:cNvSpPr/>
          <p:nvPr/>
        </p:nvSpPr>
        <p:spPr>
          <a:xfrm>
            <a:off x="476251" y="1790655"/>
            <a:ext cx="7143762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5"/>
          <p:cNvSpPr/>
          <p:nvPr/>
        </p:nvSpPr>
        <p:spPr>
          <a:xfrm>
            <a:off x="476251" y="1790655"/>
            <a:ext cx="7143762" cy="34289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5"/>
          <p:cNvSpPr txBox="1"/>
          <p:nvPr/>
        </p:nvSpPr>
        <p:spPr>
          <a:xfrm>
            <a:off x="581026" y="1790655"/>
            <a:ext cx="1762128" cy="342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🕒 Temporal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35"/>
          <p:cNvSpPr txBox="1"/>
          <p:nvPr/>
        </p:nvSpPr>
        <p:spPr>
          <a:xfrm>
            <a:off x="2486029" y="1790655"/>
            <a:ext cx="5095883" cy="342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Maior queda em next-POI; categoria pouco afetada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35"/>
          <p:cNvSpPr/>
          <p:nvPr/>
        </p:nvSpPr>
        <p:spPr>
          <a:xfrm>
            <a:off x="476251" y="2133547"/>
            <a:ext cx="7143762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5"/>
          <p:cNvSpPr txBox="1"/>
          <p:nvPr/>
        </p:nvSpPr>
        <p:spPr>
          <a:xfrm>
            <a:off x="581026" y="2133547"/>
            <a:ext cx="1762128" cy="342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🏷️ Categórico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35"/>
          <p:cNvSpPr txBox="1"/>
          <p:nvPr/>
        </p:nvSpPr>
        <p:spPr>
          <a:xfrm>
            <a:off x="2486029" y="2133547"/>
            <a:ext cx="5095883" cy="342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Perda em separabilidade entre classes próximas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35"/>
          <p:cNvSpPr/>
          <p:nvPr/>
        </p:nvSpPr>
        <p:spPr>
          <a:xfrm>
            <a:off x="476251" y="2476438"/>
            <a:ext cx="7143762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5"/>
          <p:cNvSpPr txBox="1"/>
          <p:nvPr/>
        </p:nvSpPr>
        <p:spPr>
          <a:xfrm>
            <a:off x="381000" y="4286143"/>
            <a:ext cx="8382014" cy="190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-GB" sz="8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Ablação real está no roadmap — esta tabela orienta a expectativa.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35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🎓 NESPeD-LAB · UFV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35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ST-MTLNet @ CoUrb 2026 · backup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35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A11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36"/>
          <p:cNvSpPr/>
          <p:nvPr/>
        </p:nvSpPr>
        <p:spPr>
          <a:xfrm>
            <a:off x="0" y="0"/>
            <a:ext cx="9144015" cy="5143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6"/>
          <p:cNvSpPr/>
          <p:nvPr/>
        </p:nvSpPr>
        <p:spPr>
          <a:xfrm>
            <a:off x="0" y="0"/>
            <a:ext cx="9144015" cy="28574"/>
          </a:xfrm>
          <a:prstGeom prst="rect">
            <a:avLst/>
          </a:prstGeom>
          <a:solidFill>
            <a:srgbClr val="66339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6"/>
          <p:cNvSpPr txBox="1"/>
          <p:nvPr/>
        </p:nvSpPr>
        <p:spPr>
          <a:xfrm>
            <a:off x="381000" y="114297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663399"/>
                </a:solidFill>
                <a:latin typeface="Inter"/>
                <a:ea typeface="Inter"/>
                <a:cs typeface="Inter"/>
                <a:sym typeface="Inter"/>
              </a:rPr>
              <a:t>BACKUP A12 / A13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36"/>
          <p:cNvSpPr txBox="1"/>
          <p:nvPr/>
        </p:nvSpPr>
        <p:spPr>
          <a:xfrm>
            <a:off x="476251" y="380990"/>
            <a:ext cx="8191514" cy="333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Detalhamento do Split de Avaliação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36"/>
          <p:cNvSpPr txBox="1"/>
          <p:nvPr/>
        </p:nvSpPr>
        <p:spPr>
          <a:xfrm>
            <a:off x="476251" y="1285843"/>
            <a:ext cx="7620013" cy="2857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</a:t>
            </a:r>
            <a:r>
              <a:rPr b="1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5-fold</a:t>
            </a: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estratificado por categoria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</a:t>
            </a:r>
            <a:r>
              <a:rPr b="1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Categoria:</a:t>
            </a: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divisão por POI (cada POI aparece em apenas um fold)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</a:t>
            </a:r>
            <a:r>
              <a:rPr b="1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Next-POI:</a:t>
            </a: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janelas não-sobrepostas de tamanho </a:t>
            </a:r>
            <a:r>
              <a:rPr b="0" i="0" lang="en-GB" sz="7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L_h = 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Usuários com &lt; 5 check-ins descartados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  </a:t>
            </a:r>
            <a:r>
              <a:rPr b="1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Class weights</a:t>
            </a: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aplicados na CE para mitigar desbalanceamento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36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🎓 NESPeD-LAB · UFV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36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ST-MTLNet @ CoUrb 2026 · backup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36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A12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37"/>
          <p:cNvSpPr/>
          <p:nvPr/>
        </p:nvSpPr>
        <p:spPr>
          <a:xfrm>
            <a:off x="0" y="0"/>
            <a:ext cx="9144015" cy="5143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37"/>
          <p:cNvSpPr/>
          <p:nvPr/>
        </p:nvSpPr>
        <p:spPr>
          <a:xfrm>
            <a:off x="0" y="0"/>
            <a:ext cx="9144015" cy="28574"/>
          </a:xfrm>
          <a:prstGeom prst="rect">
            <a:avLst/>
          </a:prstGeom>
          <a:solidFill>
            <a:srgbClr val="66339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7"/>
          <p:cNvSpPr txBox="1"/>
          <p:nvPr/>
        </p:nvSpPr>
        <p:spPr>
          <a:xfrm>
            <a:off x="381000" y="114297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663399"/>
                </a:solidFill>
                <a:latin typeface="Inter"/>
                <a:ea typeface="Inter"/>
                <a:cs typeface="Inter"/>
                <a:sym typeface="Inter"/>
              </a:rPr>
              <a:t>BACKUP A13 / A13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37"/>
          <p:cNvSpPr txBox="1"/>
          <p:nvPr/>
        </p:nvSpPr>
        <p:spPr>
          <a:xfrm>
            <a:off x="476251" y="380990"/>
            <a:ext cx="8191514" cy="333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Posicionamento vs. baselines externos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37"/>
          <p:cNvSpPr txBox="1"/>
          <p:nvPr/>
        </p:nvSpPr>
        <p:spPr>
          <a:xfrm>
            <a:off x="581026" y="1142972"/>
            <a:ext cx="1095376" cy="304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Baseline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37"/>
          <p:cNvSpPr txBox="1"/>
          <p:nvPr/>
        </p:nvSpPr>
        <p:spPr>
          <a:xfrm>
            <a:off x="1819278" y="1142972"/>
            <a:ext cx="1381127" cy="304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Tarefa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37"/>
          <p:cNvSpPr txBox="1"/>
          <p:nvPr/>
        </p:nvSpPr>
        <p:spPr>
          <a:xfrm>
            <a:off x="3343281" y="1142972"/>
            <a:ext cx="1476378" cy="304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Granularidade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37"/>
          <p:cNvSpPr txBox="1"/>
          <p:nvPr/>
        </p:nvSpPr>
        <p:spPr>
          <a:xfrm>
            <a:off x="4962534" y="1142972"/>
            <a:ext cx="3667131" cy="304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16A086"/>
                </a:solidFill>
                <a:latin typeface="Inter"/>
                <a:ea typeface="Inter"/>
                <a:cs typeface="Inter"/>
                <a:sym typeface="Inter"/>
              </a:rPr>
              <a:t>Escopo desta comparação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37"/>
          <p:cNvSpPr/>
          <p:nvPr/>
        </p:nvSpPr>
        <p:spPr>
          <a:xfrm>
            <a:off x="476251" y="1447764"/>
            <a:ext cx="8191514" cy="9525"/>
          </a:xfrm>
          <a:prstGeom prst="rect">
            <a:avLst/>
          </a:prstGeom>
          <a:solidFill>
            <a:srgbClr val="E6E8E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37"/>
          <p:cNvSpPr txBox="1"/>
          <p:nvPr/>
        </p:nvSpPr>
        <p:spPr>
          <a:xfrm>
            <a:off x="581026" y="1447764"/>
            <a:ext cx="1095376" cy="342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LSTPM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37"/>
          <p:cNvSpPr txBox="1"/>
          <p:nvPr/>
        </p:nvSpPr>
        <p:spPr>
          <a:xfrm>
            <a:off x="1819278" y="1447764"/>
            <a:ext cx="1381127" cy="342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Next-POI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37"/>
          <p:cNvSpPr txBox="1"/>
          <p:nvPr/>
        </p:nvSpPr>
        <p:spPr>
          <a:xfrm>
            <a:off x="3343281" y="1447764"/>
            <a:ext cx="1476378" cy="342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POI individual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37"/>
          <p:cNvSpPr txBox="1"/>
          <p:nvPr/>
        </p:nvSpPr>
        <p:spPr>
          <a:xfrm>
            <a:off x="4962534" y="1447764"/>
            <a:ext cx="3667131" cy="342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Diferente — predizemos categoria, não POI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37"/>
          <p:cNvSpPr/>
          <p:nvPr/>
        </p:nvSpPr>
        <p:spPr>
          <a:xfrm>
            <a:off x="476251" y="1790655"/>
            <a:ext cx="8191514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7"/>
          <p:cNvSpPr/>
          <p:nvPr/>
        </p:nvSpPr>
        <p:spPr>
          <a:xfrm>
            <a:off x="476251" y="1790655"/>
            <a:ext cx="8191514" cy="34289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7"/>
          <p:cNvSpPr txBox="1"/>
          <p:nvPr/>
        </p:nvSpPr>
        <p:spPr>
          <a:xfrm>
            <a:off x="581026" y="1790655"/>
            <a:ext cx="1095376" cy="342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GETNext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37"/>
          <p:cNvSpPr txBox="1"/>
          <p:nvPr/>
        </p:nvSpPr>
        <p:spPr>
          <a:xfrm>
            <a:off x="1819278" y="1790655"/>
            <a:ext cx="1381127" cy="342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Next-POI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37"/>
          <p:cNvSpPr txBox="1"/>
          <p:nvPr/>
        </p:nvSpPr>
        <p:spPr>
          <a:xfrm>
            <a:off x="3343281" y="1790655"/>
            <a:ext cx="1476378" cy="342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POI individual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37"/>
          <p:cNvSpPr txBox="1"/>
          <p:nvPr/>
        </p:nvSpPr>
        <p:spPr>
          <a:xfrm>
            <a:off x="4962534" y="1790655"/>
            <a:ext cx="3667131" cy="342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Mesmo motivo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37"/>
          <p:cNvSpPr/>
          <p:nvPr/>
        </p:nvSpPr>
        <p:spPr>
          <a:xfrm>
            <a:off x="476251" y="2133547"/>
            <a:ext cx="8191514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37"/>
          <p:cNvSpPr txBox="1"/>
          <p:nvPr/>
        </p:nvSpPr>
        <p:spPr>
          <a:xfrm>
            <a:off x="581026" y="2133547"/>
            <a:ext cx="1095376" cy="342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STAN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37"/>
          <p:cNvSpPr txBox="1"/>
          <p:nvPr/>
        </p:nvSpPr>
        <p:spPr>
          <a:xfrm>
            <a:off x="1819278" y="2133547"/>
            <a:ext cx="1381127" cy="342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Next-POI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37"/>
          <p:cNvSpPr txBox="1"/>
          <p:nvPr/>
        </p:nvSpPr>
        <p:spPr>
          <a:xfrm>
            <a:off x="3343281" y="2133547"/>
            <a:ext cx="1476378" cy="342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POI individual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37"/>
          <p:cNvSpPr txBox="1"/>
          <p:nvPr/>
        </p:nvSpPr>
        <p:spPr>
          <a:xfrm>
            <a:off x="4962534" y="2133547"/>
            <a:ext cx="3667131" cy="342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Mesmo motivo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37"/>
          <p:cNvSpPr/>
          <p:nvPr/>
        </p:nvSpPr>
        <p:spPr>
          <a:xfrm>
            <a:off x="476251" y="2476438"/>
            <a:ext cx="8191514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7"/>
          <p:cNvSpPr/>
          <p:nvPr/>
        </p:nvSpPr>
        <p:spPr>
          <a:xfrm>
            <a:off x="476251" y="2476438"/>
            <a:ext cx="8191514" cy="34289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7"/>
          <p:cNvSpPr txBox="1"/>
          <p:nvPr/>
        </p:nvSpPr>
        <p:spPr>
          <a:xfrm>
            <a:off x="581026" y="2476438"/>
            <a:ext cx="1095376" cy="342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HMT-GRN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37"/>
          <p:cNvSpPr txBox="1"/>
          <p:nvPr/>
        </p:nvSpPr>
        <p:spPr>
          <a:xfrm>
            <a:off x="1819278" y="2476438"/>
            <a:ext cx="1381127" cy="342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Next-POI + região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37"/>
          <p:cNvSpPr txBox="1"/>
          <p:nvPr/>
        </p:nvSpPr>
        <p:spPr>
          <a:xfrm>
            <a:off x="3343281" y="2476438"/>
            <a:ext cx="1476378" cy="342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Multi-nível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37"/>
          <p:cNvSpPr txBox="1"/>
          <p:nvPr/>
        </p:nvSpPr>
        <p:spPr>
          <a:xfrm>
            <a:off x="4962534" y="2476438"/>
            <a:ext cx="3667131" cy="342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Próximo trabalho de comparação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37"/>
          <p:cNvSpPr/>
          <p:nvPr/>
        </p:nvSpPr>
        <p:spPr>
          <a:xfrm>
            <a:off x="476251" y="2819330"/>
            <a:ext cx="8191514" cy="4763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37"/>
          <p:cNvSpPr txBox="1"/>
          <p:nvPr/>
        </p:nvSpPr>
        <p:spPr>
          <a:xfrm>
            <a:off x="381000" y="4286143"/>
            <a:ext cx="8382014" cy="190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-GB" sz="8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Justifica comparação direta apenas com MTLNet original, que opera no mesmo nível de granularidade (categoria).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37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🎓 NESPeD-LAB · UFV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37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ST-MTLNet @ CoUrb 2026 · backup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37"/>
          <p:cNvSpPr txBox="1"/>
          <p:nvPr/>
        </p:nvSpPr>
        <p:spPr>
          <a:xfrm>
            <a:off x="381000" y="4876678"/>
            <a:ext cx="83820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7F8C8D"/>
                </a:solidFill>
                <a:latin typeface="Inter"/>
                <a:ea typeface="Inter"/>
                <a:cs typeface="Inter"/>
                <a:sym typeface="Inter"/>
              </a:rPr>
              <a:t>A13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